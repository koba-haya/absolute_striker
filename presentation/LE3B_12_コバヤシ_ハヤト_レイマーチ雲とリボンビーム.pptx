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gif"/><Relationship Id="rId3" Type="http://schemas.openxmlformats.org/officeDocument/2006/relationships/image" Target="../media/image3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gi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8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822960" y="1371600"/>
            <a:ext cx="10607040" cy="18288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spcAft>
                <a:spcPts val="0"/>
              </a:spcAft>
            </a:pPr>
            <a:r>
              <a:rPr sz="4200" b="1" lang="ja-JP" altLang="en-US">
                <a:solidFill>
                  <a:srgbClr val="FFFFFF"/>
                </a:solidFill>
                <a:latin typeface="M PLUS 1p"/>
                <a:ea typeface="M PLUS 1p"/>
                <a:cs typeface="M PLUS 1p"/>
              </a:rPr>
              <a:t>レイマーチ雲とリボンビームの実装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56616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0" lang="ja-JP" altLang="en-US">
                <a:solidFill>
                  <a:srgbClr val="E6EFFB"/>
                </a:solidFill>
                <a:latin typeface="M PLUS 1p"/>
                <a:ea typeface="M PLUS 1p"/>
                <a:cs typeface="M PLUS 1p"/>
              </a:rPr>
              <a:t>― 雲海を飛ぶ3Dレールシューティングの演出として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5262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0" lang="ja-JP" altLang="en-US">
                <a:solidFill>
                  <a:srgbClr val="E6EFFB"/>
                </a:solidFill>
                <a:latin typeface="M PLUS 1p"/>
                <a:ea typeface="M PLUS 1p"/>
                <a:cs typeface="M PLUS 1p"/>
              </a:rPr>
              <a:t>LE3B_12_コバヤシ_ハヤト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40080" y="365760"/>
            <a:ext cx="10911535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lang="ja-JP" altLang="en-US">
                <a:solidFill>
                  <a:srgbClr val="14284B"/>
                </a:solidFill>
                <a:latin typeface="M PLUS 1p"/>
                <a:ea typeface="M PLUS 1p"/>
                <a:cs typeface="M PLUS 1p"/>
              </a:rPr>
              <a:t>1.作品概要：爽快感のある3Dレールシューティング</a:t>
            </a:r>
          </a:p>
        </p:txBody>
      </p:sp>
      <p:pic>
        <p:nvPicPr>
          <p:cNvPr id="3" name="Picture 2" descr="game_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37360"/>
            <a:ext cx="6949440" cy="364429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491381"/>
            <a:ext cx="6949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lang="ja-JP" altLang="en-US">
                <a:solidFill>
                  <a:srgbClr val="5B697F"/>
                </a:solidFill>
                <a:latin typeface="M PLUS 1p"/>
                <a:ea typeface="M PLUS 1p"/>
                <a:cs typeface="M PLUS 1p"/>
              </a:rPr>
              <a:t>現在のゲーム画面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173736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lang="ja-JP" altLang="en-US">
                <a:solidFill>
                  <a:srgbClr val="2F6FDE"/>
                </a:solidFill>
                <a:latin typeface="M PLUS 1p"/>
                <a:ea typeface="M PLUS 1p"/>
                <a:cs typeface="M PLUS 1p"/>
              </a:rPr>
              <a:t>前回まで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228600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 lang="ja-JP" altLang="en-US">
                <a:solidFill>
                  <a:srgbClr val="1E293B"/>
                </a:solidFill>
                <a:latin typeface="M PLUS 1p"/>
                <a:ea typeface="M PLUS 1p"/>
                <a:cs typeface="M PLUS 1p"/>
              </a:rPr>
              <a:t>部品化</a:t>
            </a:r>
          </a:p>
          <a:p>
            <a:pPr algn="l">
              <a:spcAft>
                <a:spcPts val="400"/>
              </a:spcAft>
            </a:pPr>
            <a:r>
              <a:rPr sz="2200" b="0" lang="ja-JP" altLang="en-US">
                <a:solidFill>
                  <a:srgbClr val="1E293B"/>
                </a:solidFill>
                <a:latin typeface="M PLUS 1p"/>
                <a:ea typeface="M PLUS 1p"/>
                <a:cs typeface="M PLUS 1p"/>
              </a:rPr>
              <a:t>エディタ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365760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lang="ja-JP" altLang="en-US">
                <a:solidFill>
                  <a:srgbClr val="F28C38"/>
                </a:solidFill>
                <a:latin typeface="M PLUS 1p"/>
                <a:ea typeface="M PLUS 1p"/>
                <a:cs typeface="M PLUS 1p"/>
              </a:rPr>
              <a:t>今回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4206240"/>
            <a:ext cx="36576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 lang="ja-JP" altLang="en-US">
                <a:solidFill>
                  <a:srgbClr val="1E293B"/>
                </a:solidFill>
                <a:latin typeface="M PLUS 1p"/>
                <a:ea typeface="M PLUS 1p"/>
                <a:cs typeface="M PLUS 1p"/>
              </a:rPr>
              <a:t>敵とボス</a:t>
            </a:r>
          </a:p>
          <a:p>
            <a:pPr algn="l">
              <a:spcAft>
                <a:spcPts val="400"/>
              </a:spcAft>
            </a:pPr>
            <a:r>
              <a:rPr sz="2200" b="0" lang="ja-JP" altLang="en-US">
                <a:solidFill>
                  <a:srgbClr val="1E293B"/>
                </a:solidFill>
                <a:latin typeface="M PLUS 1p"/>
                <a:ea typeface="M PLUS 1p"/>
                <a:cs typeface="M PLUS 1p"/>
              </a:rPr>
              <a:t>リボンビーム</a:t>
            </a:r>
          </a:p>
          <a:p>
            <a:pPr algn="l">
              <a:spcAft>
                <a:spcPts val="400"/>
              </a:spcAft>
            </a:pPr>
            <a:r>
              <a:rPr sz="2200" b="0" lang="ja-JP" altLang="en-US">
                <a:solidFill>
                  <a:srgbClr val="1E293B"/>
                </a:solidFill>
                <a:latin typeface="M PLUS 1p"/>
                <a:ea typeface="M PLUS 1p"/>
                <a:cs typeface="M PLUS 1p"/>
              </a:rPr>
              <a:t>レイマーチ雲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40080" y="365760"/>
            <a:ext cx="10911535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lang="ja-JP" altLang="en-US">
                <a:solidFill>
                  <a:srgbClr val="14284B"/>
                </a:solidFill>
                <a:latin typeface="M PLUS 1p"/>
                <a:ea typeface="M PLUS 1p"/>
                <a:cs typeface="M PLUS 1p"/>
              </a:rPr>
              <a:t>2.実装した敵：5種類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600200"/>
            <a:ext cx="3429000" cy="1965960"/>
          </a:xfrm>
          <a:prstGeom prst="roundRect">
            <a:avLst>
              <a:gd name="adj" fmla="val 8000"/>
            </a:avLst>
          </a:prstGeom>
          <a:solidFill>
            <a:srgbClr val="E6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" y="1874519"/>
            <a:ext cx="548640" cy="548640"/>
          </a:xfrm>
          <a:prstGeom prst="ellipse">
            <a:avLst/>
          </a:prstGeom>
          <a:solidFill>
            <a:srgbClr val="2F6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 lang="ja-JP" altLang="en-US">
                <a:solidFill>
                  <a:srgbClr val="FFFFFF"/>
                </a:solidFill>
                <a:latin typeface="M PLUS 1p"/>
                <a:ea typeface="M PLUS 1p"/>
                <a:cs typeface="M PLUS 1p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874519"/>
            <a:ext cx="22402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lang="ja-JP" altLang="en-US">
                <a:solidFill>
                  <a:srgbClr val="14284B"/>
                </a:solidFill>
                <a:latin typeface="M PLUS 1p"/>
                <a:ea typeface="M PLUS 1p"/>
                <a:cs typeface="M PLUS 1p"/>
              </a:rPr>
              <a:t>通常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2880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lang="ja-JP" altLang="en-US">
                <a:solidFill>
                  <a:srgbClr val="1E293B"/>
                </a:solidFill>
                <a:latin typeface="M PLUS 1p"/>
                <a:ea typeface="M PLUS 1p"/>
                <a:cs typeface="M PLUS 1p"/>
              </a:rPr>
              <a:t>直進しながら、自機を狙って撃つ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600200"/>
            <a:ext cx="3429000" cy="1965960"/>
          </a:xfrm>
          <a:prstGeom prst="roundRect">
            <a:avLst>
              <a:gd name="adj" fmla="val 8000"/>
            </a:avLst>
          </a:prstGeom>
          <a:solidFill>
            <a:srgbClr val="E6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709160" y="1874519"/>
            <a:ext cx="548640" cy="548640"/>
          </a:xfrm>
          <a:prstGeom prst="ellipse">
            <a:avLst/>
          </a:prstGeom>
          <a:solidFill>
            <a:srgbClr val="2F6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 lang="ja-JP" altLang="en-US">
                <a:solidFill>
                  <a:srgbClr val="FFFFFF"/>
                </a:solidFill>
                <a:latin typeface="M PLUS 1p"/>
                <a:ea typeface="M PLUS 1p"/>
                <a:cs typeface="M PLUS 1p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40680" y="1874519"/>
            <a:ext cx="22402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lang="ja-JP" altLang="en-US">
                <a:solidFill>
                  <a:srgbClr val="14284B"/>
                </a:solidFill>
                <a:latin typeface="M PLUS 1p"/>
                <a:ea typeface="M PLUS 1p"/>
                <a:cs typeface="M PLUS 1p"/>
              </a:rPr>
              <a:t>編隊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2651760"/>
            <a:ext cx="2880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lang="ja-JP" altLang="en-US">
                <a:solidFill>
                  <a:srgbClr val="1E293B"/>
                </a:solidFill>
                <a:latin typeface="M PLUS 1p"/>
                <a:ea typeface="M PLUS 1p"/>
                <a:cs typeface="M PLUS 1p"/>
              </a:rPr>
              <a:t>3〜5体がまとまって現れる。全滅でボーナス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600200"/>
            <a:ext cx="3429000" cy="1965960"/>
          </a:xfrm>
          <a:prstGeom prst="roundRect">
            <a:avLst>
              <a:gd name="adj" fmla="val 8000"/>
            </a:avLst>
          </a:prstGeom>
          <a:solidFill>
            <a:srgbClr val="E6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03920" y="1874519"/>
            <a:ext cx="548640" cy="548640"/>
          </a:xfrm>
          <a:prstGeom prst="ellipse">
            <a:avLst/>
          </a:prstGeom>
          <a:solidFill>
            <a:srgbClr val="2F6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 lang="ja-JP" altLang="en-US">
                <a:solidFill>
                  <a:srgbClr val="FFFFFF"/>
                </a:solidFill>
                <a:latin typeface="M PLUS 1p"/>
                <a:ea typeface="M PLUS 1p"/>
                <a:cs typeface="M PLUS 1p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0" y="1874519"/>
            <a:ext cx="22402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lang="ja-JP" altLang="en-US">
                <a:solidFill>
                  <a:srgbClr val="14284B"/>
                </a:solidFill>
                <a:latin typeface="M PLUS 1p"/>
                <a:ea typeface="M PLUS 1p"/>
                <a:cs typeface="M PLUS 1p"/>
              </a:rPr>
              <a:t>タレット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651760"/>
            <a:ext cx="2880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lang="ja-JP" altLang="en-US">
                <a:solidFill>
                  <a:srgbClr val="1E293B"/>
                </a:solidFill>
                <a:latin typeface="M PLUS 1p"/>
                <a:ea typeface="M PLUS 1p"/>
                <a:cs typeface="M PLUS 1p"/>
              </a:rPr>
              <a:t>動かず、狙って連射する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931920"/>
            <a:ext cx="3429000" cy="1965960"/>
          </a:xfrm>
          <a:prstGeom prst="roundRect">
            <a:avLst>
              <a:gd name="adj" fmla="val 8000"/>
            </a:avLst>
          </a:prstGeom>
          <a:solidFill>
            <a:srgbClr val="E6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14400" y="4206240"/>
            <a:ext cx="548640" cy="548640"/>
          </a:xfrm>
          <a:prstGeom prst="ellipse">
            <a:avLst/>
          </a:prstGeom>
          <a:solidFill>
            <a:srgbClr val="F28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 lang="ja-JP" altLang="en-US">
                <a:solidFill>
                  <a:srgbClr val="FFFFFF"/>
                </a:solidFill>
                <a:latin typeface="M PLUS 1p"/>
                <a:ea typeface="M PLUS 1p"/>
                <a:cs typeface="M PLUS 1p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4206240"/>
            <a:ext cx="22402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lang="ja-JP" altLang="en-US">
                <a:solidFill>
                  <a:srgbClr val="14284B"/>
                </a:solidFill>
                <a:latin typeface="M PLUS 1p"/>
                <a:ea typeface="M PLUS 1p"/>
                <a:cs typeface="M PLUS 1p"/>
              </a:rPr>
              <a:t>ホーミング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983479"/>
            <a:ext cx="2880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lang="ja-JP" altLang="en-US">
                <a:solidFill>
                  <a:srgbClr val="1E293B"/>
                </a:solidFill>
                <a:latin typeface="M PLUS 1p"/>
                <a:ea typeface="M PLUS 1p"/>
                <a:cs typeface="M PLUS 1p"/>
              </a:rPr>
              <a:t>近づくと突進し、体当たりで自爆する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34840" y="3931920"/>
            <a:ext cx="3429000" cy="1965960"/>
          </a:xfrm>
          <a:prstGeom prst="roundRect">
            <a:avLst>
              <a:gd name="adj" fmla="val 8000"/>
            </a:avLst>
          </a:prstGeom>
          <a:solidFill>
            <a:srgbClr val="E6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709160" y="4206240"/>
            <a:ext cx="548640" cy="548640"/>
          </a:xfrm>
          <a:prstGeom prst="ellipse">
            <a:avLst/>
          </a:prstGeom>
          <a:solidFill>
            <a:srgbClr val="142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 lang="ja-JP" altLang="en-US">
                <a:solidFill>
                  <a:srgbClr val="FFFFFF"/>
                </a:solidFill>
                <a:latin typeface="M PLUS 1p"/>
                <a:ea typeface="M PLUS 1p"/>
                <a:cs typeface="M PLUS 1p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4206240"/>
            <a:ext cx="22402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lang="ja-JP" altLang="en-US">
                <a:solidFill>
                  <a:srgbClr val="14284B"/>
                </a:solidFill>
                <a:latin typeface="M PLUS 1p"/>
                <a:ea typeface="M PLUS 1p"/>
                <a:cs typeface="M PLUS 1p"/>
              </a:rPr>
              <a:t>ボス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09160" y="4983479"/>
            <a:ext cx="2880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lang="ja-JP" altLang="en-US">
                <a:solidFill>
                  <a:srgbClr val="1E293B"/>
                </a:solidFill>
                <a:latin typeface="M PLUS 1p"/>
                <a:ea typeface="M PLUS 1p"/>
                <a:cs typeface="M PLUS 1p"/>
              </a:rPr>
              <a:t>3フェーズで、自機狙い弾と扇状弾を撃つ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40080" y="365760"/>
            <a:ext cx="10911535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lang="ja-JP" altLang="en-US">
                <a:solidFill>
                  <a:srgbClr val="14284B"/>
                </a:solidFill>
                <a:latin typeface="M PLUS 1p"/>
                <a:ea typeface="M PLUS 1p"/>
                <a:cs typeface="M PLUS 1p"/>
              </a:rPr>
              <a:t>3.リボンビーム：球の弾から、軌跡が見える光の帯へ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08760"/>
            <a:ext cx="5394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lang="ja-JP" altLang="en-US">
                <a:solidFill>
                  <a:srgbClr val="5B697F"/>
                </a:solidFill>
                <a:latin typeface="M PLUS 1p"/>
                <a:ea typeface="M PLUS 1p"/>
                <a:cs typeface="M PLUS 1p"/>
              </a:rPr>
              <a:t>旧：球の弾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56655" y="1508760"/>
            <a:ext cx="5394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lang="ja-JP" altLang="en-US">
                <a:solidFill>
                  <a:srgbClr val="F28C38"/>
                </a:solidFill>
                <a:latin typeface="M PLUS 1p"/>
                <a:ea typeface="M PLUS 1p"/>
                <a:cs typeface="M PLUS 1p"/>
              </a:rPr>
              <a:t>新：リボンビーム</a:t>
            </a:r>
          </a:p>
        </p:txBody>
      </p:sp>
      <p:pic>
        <p:nvPicPr>
          <p:cNvPr id="5" name="Picture 4" descr="bullet_spher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03120"/>
            <a:ext cx="5394960" cy="3017806"/>
          </a:xfrm>
          <a:prstGeom prst="rect">
            <a:avLst/>
          </a:prstGeom>
        </p:spPr>
      </p:pic>
      <p:pic>
        <p:nvPicPr>
          <p:cNvPr id="6" name="Picture 5" descr="bullet_ribbo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6655" y="2103120"/>
            <a:ext cx="5394960" cy="301780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5349525"/>
            <a:ext cx="5394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lang="ja-JP" altLang="en-US">
                <a:solidFill>
                  <a:srgbClr val="1E293B"/>
                </a:solidFill>
                <a:latin typeface="M PLUS 1p"/>
                <a:ea typeface="M PLUS 1p"/>
                <a:cs typeface="M PLUS 1p"/>
              </a:rPr>
              <a:t>どこへ飛ぶのか、分かりにくい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56655" y="5349525"/>
            <a:ext cx="5394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lang="ja-JP" altLang="en-US">
                <a:solidFill>
                  <a:srgbClr val="14284B"/>
                </a:solidFill>
                <a:latin typeface="M PLUS 1p"/>
                <a:ea typeface="M PLUS 1p"/>
                <a:cs typeface="M PLUS 1p"/>
              </a:rPr>
              <a:t>軌跡で、飛ぶ先が見える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40080" y="365760"/>
            <a:ext cx="10911535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lang="ja-JP" altLang="en-US">
                <a:solidFill>
                  <a:srgbClr val="14284B"/>
                </a:solidFill>
                <a:latin typeface="M PLUS 1p"/>
                <a:ea typeface="M PLUS 1p"/>
                <a:cs typeface="M PLUS 1p"/>
              </a:rPr>
              <a:t>3.リボンビーム：4つの手法を比べ、CPUで帯を作る方式を採用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5669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lang="ja-JP" altLang="en-US">
                <a:solidFill>
                  <a:srgbClr val="14284B"/>
                </a:solidFill>
                <a:latin typeface="M PLUS 1p"/>
                <a:ea typeface="M PLUS 1p"/>
                <a:cs typeface="M PLUS 1p"/>
              </a:rPr>
              <a:t>手法の比較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920240"/>
          <a:ext cx="566928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743200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 lang="ja-JP" altLang="en-US">
                          <a:solidFill>
                            <a:srgbClr val="FFFFFF"/>
                          </a:solidFill>
                          <a:latin typeface="M PLUS 1p"/>
                          <a:ea typeface="M PLUS 1p"/>
                          <a:cs typeface="M PLUS 1p"/>
                        </a:rPr>
                        <a:t>手法</a:t>
                      </a:r>
                    </a:p>
                  </a:txBody>
                  <a:tcPr marL="109728" marR="109728" marT="36576" marB="36576" anchor="ctr">
                    <a:solidFill>
                      <a:srgbClr val="1428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lang="ja-JP" altLang="en-US">
                          <a:solidFill>
                            <a:srgbClr val="FFFFFF"/>
                          </a:solidFill>
                          <a:latin typeface="M PLUS 1p"/>
                          <a:ea typeface="M PLUS 1p"/>
                          <a:cs typeface="M PLUS 1p"/>
                        </a:rPr>
                        <a:t>欠点</a:t>
                      </a:r>
                    </a:p>
                  </a:txBody>
                  <a:tcPr marL="109728" marR="109728" marT="36576" marB="36576" anchor="ctr">
                    <a:solidFill>
                      <a:srgbClr val="14284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 lang="ja-JP" altLang="en-US">
                          <a:solidFill>
                            <a:srgbClr val="1E293B"/>
                          </a:solidFill>
                          <a:latin typeface="M PLUS 1p"/>
                          <a:ea typeface="M PLUS 1p"/>
                          <a:cs typeface="M PLUS 1p"/>
                        </a:rPr>
                        <a:t>A CPUで帯を作る（採用）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lang="ja-JP" altLang="en-US">
                          <a:solidFill>
                            <a:srgbClr val="1E293B"/>
                          </a:solidFill>
                          <a:latin typeface="M PLUS 1p"/>
                          <a:ea typeface="M PLUS 1p"/>
                          <a:cs typeface="M PLUS 1p"/>
                        </a:rPr>
                        <a:t>仕組みを新しく作る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 lang="ja-JP" altLang="en-US">
                          <a:solidFill>
                            <a:srgbClr val="1E293B"/>
                          </a:solidFill>
                          <a:latin typeface="M PLUS 1p"/>
                          <a:ea typeface="M PLUS 1p"/>
                          <a:cs typeface="M PLUS 1p"/>
                        </a:rPr>
                        <a:t>B パーティクルを並べる</a:t>
                      </a:r>
                    </a:p>
                  </a:txBody>
                  <a:tcPr marL="109728" marR="109728" marT="36576" marB="36576" anchor="ctr">
                    <a:solidFill>
                      <a:srgbClr val="E6EF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lang="ja-JP" altLang="en-US">
                          <a:solidFill>
                            <a:srgbClr val="1E293B"/>
                          </a:solidFill>
                          <a:latin typeface="M PLUS 1p"/>
                          <a:ea typeface="M PLUS 1p"/>
                          <a:cs typeface="M PLUS 1p"/>
                        </a:rPr>
                        <a:t>速いと途切れる</a:t>
                      </a:r>
                    </a:p>
                  </a:txBody>
                  <a:tcPr marL="109728" marR="109728" marT="36576" marB="36576" anchor="ctr">
                    <a:solidFill>
                      <a:srgbClr val="E6EF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 lang="ja-JP" altLang="en-US">
                          <a:solidFill>
                            <a:srgbClr val="1E293B"/>
                          </a:solidFill>
                          <a:latin typeface="M PLUS 1p"/>
                          <a:ea typeface="M PLUS 1p"/>
                          <a:cs typeface="M PLUS 1p"/>
                        </a:rPr>
                        <a:t>C 線でつなぐ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lang="ja-JP" altLang="en-US">
                          <a:solidFill>
                            <a:srgbClr val="1E293B"/>
                          </a:solidFill>
                          <a:latin typeface="M PLUS 1p"/>
                          <a:ea typeface="M PLUS 1p"/>
                          <a:cs typeface="M PLUS 1p"/>
                        </a:rPr>
                        <a:t>太さ1pxで帯にならない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 lang="ja-JP" altLang="en-US">
                          <a:solidFill>
                            <a:srgbClr val="1E293B"/>
                          </a:solidFill>
                          <a:latin typeface="M PLUS 1p"/>
                          <a:ea typeface="M PLUS 1p"/>
                          <a:cs typeface="M PLUS 1p"/>
                        </a:rPr>
                        <a:t>D GPUパーティクル</a:t>
                      </a:r>
                    </a:p>
                  </a:txBody>
                  <a:tcPr marL="109728" marR="109728" marT="36576" marB="36576" anchor="ctr">
                    <a:solidFill>
                      <a:srgbClr val="E6EF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lang="ja-JP" altLang="en-US">
                          <a:solidFill>
                            <a:srgbClr val="1E293B"/>
                          </a:solidFill>
                          <a:latin typeface="M PLUS 1p"/>
                          <a:ea typeface="M PLUS 1p"/>
                          <a:cs typeface="M PLUS 1p"/>
                        </a:rPr>
                        <a:t>実装が重く、難しい</a:t>
                      </a:r>
                    </a:p>
                  </a:txBody>
                  <a:tcPr marL="109728" marR="109728" marT="36576" marB="36576" anchor="ctr">
                    <a:solidFill>
                      <a:srgbClr val="E6EFF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389120"/>
            <a:ext cx="5669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lang="ja-JP" altLang="en-US">
                <a:solidFill>
                  <a:srgbClr val="1E293B"/>
                </a:solidFill>
                <a:latin typeface="M PLUS 1p"/>
                <a:ea typeface="M PLUS 1p"/>
                <a:cs typeface="M PLUS 1p"/>
              </a:rPr>
              <a:t>採用理由：作り方を理解でき、他の軌跡にも使える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141732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lang="ja-JP" altLang="en-US">
                <a:solidFill>
                  <a:srgbClr val="14284B"/>
                </a:solidFill>
                <a:latin typeface="M PLUS 1p"/>
                <a:ea typeface="M PLUS 1p"/>
                <a:cs typeface="M PLUS 1p"/>
              </a:rPr>
              <a:t>つまずいた点と対策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0" y="1965960"/>
            <a:ext cx="4709160" cy="960120"/>
          </a:xfrm>
          <a:prstGeom prst="roundRect">
            <a:avLst>
              <a:gd name="adj" fmla="val 8000"/>
            </a:avLst>
          </a:prstGeom>
          <a:solidFill>
            <a:srgbClr val="E6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0" y="2075688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lang="ja-JP" altLang="en-US">
                <a:solidFill>
                  <a:srgbClr val="5B697F"/>
                </a:solidFill>
                <a:latin typeface="M PLUS 1p"/>
                <a:ea typeface="M PLUS 1p"/>
                <a:cs typeface="M PLUS 1p"/>
              </a:rPr>
              <a:t>点の間隔が速度でばらつく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2441448"/>
            <a:ext cx="4206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lang="ja-JP" altLang="en-US">
                <a:solidFill>
                  <a:srgbClr val="14284B"/>
                </a:solidFill>
                <a:latin typeface="M PLUS 1p"/>
                <a:ea typeface="M PLUS 1p"/>
                <a:cs typeface="M PLUS 1p"/>
              </a:rPr>
              <a:t>→ 一定距離ごとに点を記録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3063239"/>
            <a:ext cx="4709160" cy="960120"/>
          </a:xfrm>
          <a:prstGeom prst="roundRect">
            <a:avLst>
              <a:gd name="adj" fmla="val 8000"/>
            </a:avLst>
          </a:prstGeom>
          <a:solidFill>
            <a:srgbClr val="E6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0" y="3172968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lang="ja-JP" altLang="en-US">
                <a:solidFill>
                  <a:srgbClr val="5B697F"/>
                </a:solidFill>
                <a:latin typeface="M PLUS 1p"/>
                <a:ea typeface="M PLUS 1p"/>
                <a:cs typeface="M PLUS 1p"/>
              </a:rPr>
              <a:t>止まると尾が太く残る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3538727"/>
            <a:ext cx="4206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lang="ja-JP" altLang="en-US">
                <a:solidFill>
                  <a:srgbClr val="14284B"/>
                </a:solidFill>
                <a:latin typeface="M PLUS 1p"/>
                <a:ea typeface="M PLUS 1p"/>
                <a:cs typeface="M PLUS 1p"/>
              </a:rPr>
              <a:t>→ 太さと消え方を、点の年齢で決める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0" y="4160520"/>
            <a:ext cx="4709160" cy="960120"/>
          </a:xfrm>
          <a:prstGeom prst="roundRect">
            <a:avLst>
              <a:gd name="adj" fmla="val 8000"/>
            </a:avLst>
          </a:prstGeom>
          <a:solidFill>
            <a:srgbClr val="E6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0" y="4270248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lang="ja-JP" altLang="en-US">
                <a:solidFill>
                  <a:srgbClr val="5B697F"/>
                </a:solidFill>
                <a:latin typeface="M PLUS 1p"/>
                <a:ea typeface="M PLUS 1p"/>
                <a:cs typeface="M PLUS 1p"/>
              </a:rPr>
              <a:t>弾が消えると尾も消える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4636008"/>
            <a:ext cx="4206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lang="ja-JP" altLang="en-US">
                <a:solidFill>
                  <a:srgbClr val="14284B"/>
                </a:solidFill>
                <a:latin typeface="M PLUS 1p"/>
                <a:ea typeface="M PLUS 1p"/>
                <a:cs typeface="M PLUS 1p"/>
              </a:rPr>
              <a:t>→ 尾を弾から切り離して残す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394960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F28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5394960"/>
            <a:ext cx="10180015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lang="ja-JP" altLang="en-US">
                <a:solidFill>
                  <a:srgbClr val="FFFFFF"/>
                </a:solidFill>
                <a:latin typeface="M PLUS 1p"/>
                <a:ea typeface="M PLUS 1p"/>
                <a:cs typeface="M PLUS 1p"/>
              </a:rPr>
              <a:t>弾が増えるとCPUでは重くなるので、のちにGPUで描く方式へ移す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40080" y="365760"/>
            <a:ext cx="10911535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lang="ja-JP" altLang="en-US">
                <a:solidFill>
                  <a:srgbClr val="14284B"/>
                </a:solidFill>
                <a:latin typeface="M PLUS 1p"/>
                <a:ea typeface="M PLUS 1p"/>
                <a:cs typeface="M PLUS 1p"/>
              </a:rPr>
              <a:t>4.雲：雲の中を飛べるように、箱のボリューム雲を採用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109115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lang="ja-JP" altLang="en-US">
                <a:solidFill>
                  <a:srgbClr val="14284B"/>
                </a:solidFill>
                <a:latin typeface="M PLUS 1p"/>
                <a:ea typeface="M PLUS 1p"/>
                <a:cs typeface="M PLUS 1p"/>
              </a:rPr>
              <a:t>目的：雲の中を飛べるようにして、ゲームの遊びに使う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2011680"/>
          <a:ext cx="11064240" cy="2267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4206240"/>
                <a:gridCol w="3566160"/>
              </a:tblGrid>
              <a:tr h="566928">
                <a:tc>
                  <a:txBody>
                    <a:bodyPr/>
                    <a:lstStyle/>
                    <a:p>
                      <a:r>
                        <a:rPr sz="1600" b="1" lang="ja-JP" altLang="en-US">
                          <a:solidFill>
                            <a:srgbClr val="FFFFFF"/>
                          </a:solidFill>
                          <a:latin typeface="M PLUS 1p"/>
                          <a:ea typeface="M PLUS 1p"/>
                          <a:cs typeface="M PLUS 1p"/>
                        </a:rPr>
                        <a:t>手法</a:t>
                      </a:r>
                    </a:p>
                  </a:txBody>
                  <a:tcPr marL="109728" marR="109728" marT="36576" marB="36576" anchor="ctr">
                    <a:solidFill>
                      <a:srgbClr val="1428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 lang="ja-JP" altLang="en-US">
                          <a:solidFill>
                            <a:srgbClr val="FFFFFF"/>
                          </a:solidFill>
                          <a:latin typeface="M PLUS 1p"/>
                          <a:ea typeface="M PLUS 1p"/>
                          <a:cs typeface="M PLUS 1p"/>
                        </a:rPr>
                        <a:t>長所</a:t>
                      </a:r>
                    </a:p>
                  </a:txBody>
                  <a:tcPr marL="109728" marR="109728" marT="36576" marB="36576" anchor="ctr">
                    <a:solidFill>
                      <a:srgbClr val="1428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 lang="ja-JP" altLang="en-US">
                          <a:solidFill>
                            <a:srgbClr val="FFFFFF"/>
                          </a:solidFill>
                          <a:latin typeface="M PLUS 1p"/>
                          <a:ea typeface="M PLUS 1p"/>
                          <a:cs typeface="M PLUS 1p"/>
                        </a:rPr>
                        <a:t>短所</a:t>
                      </a:r>
                    </a:p>
                  </a:txBody>
                  <a:tcPr marL="109728" marR="109728" marT="36576" marB="36576" anchor="ctr">
                    <a:solidFill>
                      <a:srgbClr val="14284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600" b="0" lang="ja-JP" altLang="en-US">
                          <a:solidFill>
                            <a:srgbClr val="1E293B"/>
                          </a:solidFill>
                          <a:latin typeface="M PLUS 1p"/>
                          <a:ea typeface="M PLUS 1p"/>
                          <a:cs typeface="M PLUS 1p"/>
                        </a:rPr>
                        <a:t>A ビルボード（平面の雲）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lang="ja-JP" altLang="en-US">
                          <a:solidFill>
                            <a:srgbClr val="1E293B"/>
                          </a:solidFill>
                          <a:latin typeface="M PLUS 1p"/>
                          <a:ea typeface="M PLUS 1p"/>
                          <a:cs typeface="M PLUS 1p"/>
                        </a:rPr>
                        <a:t>軽い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lang="ja-JP" altLang="en-US">
                          <a:solidFill>
                            <a:srgbClr val="1E293B"/>
                          </a:solidFill>
                          <a:latin typeface="M PLUS 1p"/>
                          <a:ea typeface="M PLUS 1p"/>
                          <a:cs typeface="M PLUS 1p"/>
                        </a:rPr>
                        <a:t>中に入れない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600" b="0" lang="ja-JP" altLang="en-US">
                          <a:solidFill>
                            <a:srgbClr val="1E293B"/>
                          </a:solidFill>
                          <a:latin typeface="M PLUS 1p"/>
                          <a:ea typeface="M PLUS 1p"/>
                          <a:cs typeface="M PLUS 1p"/>
                        </a:rPr>
                        <a:t>B 箱のボリューム雲（採用）</a:t>
                      </a:r>
                    </a:p>
                  </a:txBody>
                  <a:tcPr marL="109728" marR="109728" marT="36576" marB="36576" anchor="ctr">
                    <a:solidFill>
                      <a:srgbClr val="E6EF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lang="ja-JP" altLang="en-US">
                          <a:solidFill>
                            <a:srgbClr val="1E293B"/>
                          </a:solidFill>
                          <a:latin typeface="M PLUS 1p"/>
                          <a:ea typeface="M PLUS 1p"/>
                          <a:cs typeface="M PLUS 1p"/>
                        </a:rPr>
                        <a:t>中を通れる。箱の画素だけ計算すればよい</a:t>
                      </a:r>
                    </a:p>
                  </a:txBody>
                  <a:tcPr marL="109728" marR="109728" marT="36576" marB="36576" anchor="ctr">
                    <a:solidFill>
                      <a:srgbClr val="E6EF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lang="ja-JP" altLang="en-US">
                          <a:solidFill>
                            <a:srgbClr val="1E293B"/>
                          </a:solidFill>
                          <a:latin typeface="M PLUS 1p"/>
                          <a:ea typeface="M PLUS 1p"/>
                          <a:cs typeface="M PLUS 1p"/>
                        </a:rPr>
                        <a:t>重い。深度の受け渡しが要る</a:t>
                      </a:r>
                    </a:p>
                  </a:txBody>
                  <a:tcPr marL="109728" marR="109728" marT="36576" marB="36576" anchor="ctr">
                    <a:solidFill>
                      <a:srgbClr val="E6EF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600" b="0" lang="ja-JP" altLang="en-US">
                          <a:solidFill>
                            <a:srgbClr val="1E293B"/>
                          </a:solidFill>
                          <a:latin typeface="M PLUS 1p"/>
                          <a:ea typeface="M PLUS 1p"/>
                          <a:cs typeface="M PLUS 1p"/>
                        </a:rPr>
                        <a:t>C AとBの併用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lang="ja-JP" altLang="en-US">
                          <a:solidFill>
                            <a:srgbClr val="1E293B"/>
                          </a:solidFill>
                          <a:latin typeface="M PLUS 1p"/>
                          <a:ea typeface="M PLUS 1p"/>
                          <a:cs typeface="M PLUS 1p"/>
                        </a:rPr>
                        <a:t>重さを見せ場に集中できる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lang="ja-JP" altLang="en-US">
                          <a:solidFill>
                            <a:srgbClr val="1E293B"/>
                          </a:solidFill>
                          <a:latin typeface="M PLUS 1p"/>
                          <a:ea typeface="M PLUS 1p"/>
                          <a:cs typeface="M PLUS 1p"/>
                        </a:rPr>
                        <a:t>仕組みが2つ並ぶ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572000"/>
            <a:ext cx="10911535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 lang="ja-JP" altLang="en-US">
                <a:solidFill>
                  <a:srgbClr val="1E293B"/>
                </a:solidFill>
                <a:latin typeface="M PLUS 1p"/>
                <a:ea typeface="M PLUS 1p"/>
                <a:cs typeface="M PLUS 1p"/>
              </a:rPr>
              <a:t>固定レールなので、雲の箱を置く場所を決められる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40080" y="365760"/>
            <a:ext cx="10911535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lang="ja-JP" altLang="en-US">
                <a:solidFill>
                  <a:srgbClr val="14284B"/>
                </a:solidFill>
                <a:latin typeface="M PLUS 1p"/>
                <a:ea typeface="M PLUS 1p"/>
                <a:cs typeface="M PLUS 1p"/>
              </a:rPr>
              <a:t>4.雲：3Dノイズとレイマーチで描く</a:t>
            </a:r>
          </a:p>
        </p:txBody>
      </p:sp>
      <p:pic>
        <p:nvPicPr>
          <p:cNvPr id="3" name="Picture 2" descr="cloud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54480"/>
            <a:ext cx="6309360" cy="35445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208792"/>
            <a:ext cx="6309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lang="ja-JP" altLang="en-US">
                <a:solidFill>
                  <a:srgbClr val="5B697F"/>
                </a:solidFill>
                <a:latin typeface="M PLUS 1p"/>
                <a:ea typeface="M PLUS 1p"/>
                <a:cs typeface="M PLUS 1p"/>
              </a:rPr>
              <a:t>実際の描画結果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0" y="1554480"/>
            <a:ext cx="4251960" cy="1143000"/>
          </a:xfrm>
          <a:prstGeom prst="roundRect">
            <a:avLst>
              <a:gd name="adj" fmla="val 8000"/>
            </a:avLst>
          </a:prstGeom>
          <a:solidFill>
            <a:srgbClr val="E6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543800" y="1856231"/>
            <a:ext cx="548640" cy="548640"/>
          </a:xfrm>
          <a:prstGeom prst="ellipse">
            <a:avLst/>
          </a:prstGeom>
          <a:solidFill>
            <a:srgbClr val="2F6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 lang="ja-JP" altLang="en-US">
                <a:solidFill>
                  <a:srgbClr val="FFFFFF"/>
                </a:solidFill>
                <a:latin typeface="M PLUS 1p"/>
                <a:ea typeface="M PLUS 1p"/>
                <a:cs typeface="M PLUS 1p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1691639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lang="ja-JP" altLang="en-US">
                <a:solidFill>
                  <a:srgbClr val="14284B"/>
                </a:solidFill>
                <a:latin typeface="M PLUS 1p"/>
                <a:ea typeface="M PLUS 1p"/>
                <a:cs typeface="M PLUS 1p"/>
              </a:rPr>
              <a:t>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2121408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lang="ja-JP" altLang="en-US">
                <a:solidFill>
                  <a:srgbClr val="1E293B"/>
                </a:solidFill>
                <a:latin typeface="M PLUS 1p"/>
                <a:ea typeface="M PLUS 1p"/>
                <a:cs typeface="M PLUS 1p"/>
              </a:rPr>
              <a:t>3Dノイズ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2880360"/>
            <a:ext cx="4251960" cy="1143000"/>
          </a:xfrm>
          <a:prstGeom prst="roundRect">
            <a:avLst>
              <a:gd name="adj" fmla="val 8000"/>
            </a:avLst>
          </a:prstGeom>
          <a:solidFill>
            <a:srgbClr val="E6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543800" y="3182112"/>
            <a:ext cx="548640" cy="548640"/>
          </a:xfrm>
          <a:prstGeom prst="ellipse">
            <a:avLst/>
          </a:prstGeom>
          <a:solidFill>
            <a:srgbClr val="2F6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 lang="ja-JP" altLang="en-US">
                <a:solidFill>
                  <a:srgbClr val="FFFFFF"/>
                </a:solidFill>
                <a:latin typeface="M PLUS 1p"/>
                <a:ea typeface="M PLUS 1p"/>
                <a:cs typeface="M PLUS 1p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301752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lang="ja-JP" altLang="en-US">
                <a:solidFill>
                  <a:srgbClr val="14284B"/>
                </a:solidFill>
                <a:latin typeface="M PLUS 1p"/>
                <a:ea typeface="M PLUS 1p"/>
                <a:cs typeface="M PLUS 1p"/>
              </a:rPr>
              <a:t>描き方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3447288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lang="ja-JP" altLang="en-US">
                <a:solidFill>
                  <a:srgbClr val="1E293B"/>
                </a:solidFill>
                <a:latin typeface="M PLUS 1p"/>
                <a:ea typeface="M PLUS 1p"/>
                <a:cs typeface="M PLUS 1p"/>
              </a:rPr>
              <a:t>レイマーチ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4206240"/>
            <a:ext cx="4251960" cy="1143000"/>
          </a:xfrm>
          <a:prstGeom prst="roundRect">
            <a:avLst>
              <a:gd name="adj" fmla="val 8000"/>
            </a:avLst>
          </a:prstGeom>
          <a:solidFill>
            <a:srgbClr val="E6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543800" y="4507992"/>
            <a:ext cx="548640" cy="548640"/>
          </a:xfrm>
          <a:prstGeom prst="ellipse">
            <a:avLst/>
          </a:prstGeom>
          <a:solidFill>
            <a:srgbClr val="2F6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 lang="ja-JP" altLang="en-US">
                <a:solidFill>
                  <a:srgbClr val="FFFFFF"/>
                </a:solidFill>
                <a:latin typeface="M PLUS 1p"/>
                <a:ea typeface="M PLUS 1p"/>
                <a:cs typeface="M PLUS 1p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434340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lang="ja-JP" altLang="en-US">
                <a:solidFill>
                  <a:srgbClr val="14284B"/>
                </a:solidFill>
                <a:latin typeface="M PLUS 1p"/>
                <a:ea typeface="M PLUS 1p"/>
                <a:cs typeface="M PLUS 1p"/>
              </a:rPr>
              <a:t>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4773168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lang="ja-JP" altLang="en-US">
                <a:solidFill>
                  <a:srgbClr val="1E293B"/>
                </a:solidFill>
                <a:latin typeface="M PLUS 1p"/>
                <a:ea typeface="M PLUS 1p"/>
                <a:cs typeface="M PLUS 1p"/>
              </a:rPr>
              <a:t>太陽へも進み、影を求める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669280"/>
            <a:ext cx="6400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 lang="ja-JP" altLang="en-US">
                <a:solidFill>
                  <a:srgbClr val="5B697F"/>
                </a:solidFill>
                <a:latin typeface="M PLUS 1p"/>
                <a:ea typeface="M PLUS 1p"/>
                <a:cs typeface="M PLUS 1p"/>
              </a:rPr>
              <a:t>ノイズは毎回計算せず、起動時に1回だけ作る（約265ms）</a:t>
            </a:r>
          </a:p>
          <a:p>
            <a:pPr algn="l">
              <a:spcAft>
                <a:spcPts val="200"/>
              </a:spcAft>
            </a:pPr>
            <a:r>
              <a:rPr sz="1600" b="0" lang="ja-JP" altLang="en-US">
                <a:solidFill>
                  <a:srgbClr val="5B697F"/>
                </a:solidFill>
                <a:latin typeface="M PLUS 1p"/>
                <a:ea typeface="M PLUS 1p"/>
                <a:cs typeface="M PLUS 1p"/>
              </a:rPr>
              <a:t>→ 毎ステップ計算する方式より軽い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40080" y="365760"/>
            <a:ext cx="10911535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lang="ja-JP" altLang="en-US">
                <a:solidFill>
                  <a:srgbClr val="14284B"/>
                </a:solidFill>
                <a:latin typeface="M PLUS 1p"/>
                <a:ea typeface="M PLUS 1p"/>
                <a:cs typeface="M PLUS 1p"/>
              </a:rPr>
              <a:t>5.負荷：先に測り、低解像度で描く方式を採用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lang="ja-JP" altLang="en-US">
                <a:solidFill>
                  <a:srgbClr val="14284B"/>
                </a:solidFill>
                <a:latin typeface="M PLUS 1p"/>
                <a:ea typeface="M PLUS 1p"/>
                <a:cs typeface="M PLUS 1p"/>
              </a:rPr>
              <a:t>先に測る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65960"/>
            <a:ext cx="51206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 lang="ja-JP" altLang="en-US">
                <a:solidFill>
                  <a:srgbClr val="1E293B"/>
                </a:solidFill>
                <a:latin typeface="M PLUS 1p"/>
                <a:ea typeface="M PLUS 1p"/>
                <a:cs typeface="M PLUS 1p"/>
              </a:rPr>
              <a:t>GPU時間を測る計測器を、最初に作った</a:t>
            </a:r>
          </a:p>
          <a:p>
            <a:pPr algn="l">
              <a:spcAft>
                <a:spcPts val="800"/>
              </a:spcAft>
            </a:pPr>
            <a:r>
              <a:rPr sz="1700" b="0" lang="ja-JP" altLang="en-US">
                <a:solidFill>
                  <a:srgbClr val="1E293B"/>
                </a:solidFill>
                <a:latin typeface="M PLUS 1p"/>
                <a:ea typeface="M PLUS 1p"/>
                <a:cs typeface="M PLUS 1p"/>
              </a:rPr>
              <a:t>「計測なしの最適化は当てずっぽう」</a:t>
            </a:r>
          </a:p>
          <a:p>
            <a:pPr algn="l">
              <a:spcAft>
                <a:spcPts val="800"/>
              </a:spcAft>
            </a:pPr>
            <a:r>
              <a:rPr sz="1700" b="0" lang="ja-JP" altLang="en-US">
                <a:solidFill>
                  <a:srgbClr val="1E293B"/>
                </a:solidFill>
                <a:latin typeface="M PLUS 1p"/>
                <a:ea typeface="M PLUS 1p"/>
                <a:cs typeface="M PLUS 1p"/>
              </a:rPr>
              <a:t>最初の版は、画面を覆うと最大約3.3ms</a:t>
            </a:r>
          </a:p>
          <a:p>
            <a:pPr algn="l">
              <a:spcAft>
                <a:spcPts val="800"/>
              </a:spcAft>
            </a:pPr>
            <a:r>
              <a:rPr sz="1700" b="0" lang="ja-JP" altLang="en-US">
                <a:solidFill>
                  <a:srgbClr val="1E293B"/>
                </a:solidFill>
                <a:latin typeface="M PLUS 1p"/>
                <a:ea typeface="M PLUS 1p"/>
                <a:cs typeface="M PLUS 1p"/>
              </a:rPr>
              <a:t>（60fpsの枠16.6msの約2割）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84048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lang="ja-JP" altLang="en-US">
                <a:solidFill>
                  <a:srgbClr val="14284B"/>
                </a:solidFill>
                <a:latin typeface="M PLUS 1p"/>
                <a:ea typeface="M PLUS 1p"/>
                <a:cs typeface="M PLUS 1p"/>
              </a:rPr>
              <a:t>他の手段との比較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389120"/>
            <a:ext cx="512064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lang="ja-JP" altLang="en-US">
                <a:solidFill>
                  <a:srgbClr val="1E293B"/>
                </a:solidFill>
                <a:latin typeface="M PLUS 1p"/>
                <a:ea typeface="M PLUS 1p"/>
                <a:cs typeface="M PLUS 1p"/>
              </a:rPr>
              <a:t>低解像度：効果大、実装は中（採用）</a:t>
            </a:r>
          </a:p>
          <a:p>
            <a:pPr algn="l">
              <a:spcAft>
                <a:spcPts val="600"/>
              </a:spcAft>
            </a:pPr>
            <a:r>
              <a:rPr sz="1600" b="0" lang="ja-JP" altLang="en-US">
                <a:solidFill>
                  <a:srgbClr val="1E293B"/>
                </a:solidFill>
                <a:latin typeface="M PLUS 1p"/>
                <a:ea typeface="M PLUS 1p"/>
                <a:cs typeface="M PLUS 1p"/>
              </a:rPr>
              <a:t>時間方向の再利用：最大だが、残像が出る</a:t>
            </a:r>
          </a:p>
          <a:p>
            <a:pPr algn="l">
              <a:spcAft>
                <a:spcPts val="600"/>
              </a:spcAft>
            </a:pPr>
            <a:r>
              <a:rPr sz="1600" b="0" lang="ja-JP" altLang="en-US">
                <a:solidFill>
                  <a:srgbClr val="1E293B"/>
                </a:solidFill>
                <a:latin typeface="M PLUS 1p"/>
                <a:ea typeface="M PLUS 1p"/>
                <a:cs typeface="M PLUS 1p"/>
              </a:rPr>
              <a:t>ステップ数の削減：細部を取りこぼす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41732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lang="ja-JP" altLang="en-US">
                <a:solidFill>
                  <a:srgbClr val="14284B"/>
                </a:solidFill>
                <a:latin typeface="M PLUS 1p"/>
                <a:ea typeface="M PLUS 1p"/>
                <a:cs typeface="M PLUS 1p"/>
              </a:rPr>
              <a:t>解像度を変えて実測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309360" y="1965960"/>
          <a:ext cx="52578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737360"/>
                <a:gridCol w="2331720"/>
              </a:tblGrid>
              <a:tr h="548640">
                <a:tc>
                  <a:txBody>
                    <a:bodyPr/>
                    <a:lstStyle/>
                    <a:p>
                      <a:r>
                        <a:rPr sz="1500" b="1" lang="ja-JP" altLang="en-US">
                          <a:solidFill>
                            <a:srgbClr val="FFFFFF"/>
                          </a:solidFill>
                          <a:latin typeface="M PLUS 1p"/>
                          <a:ea typeface="M PLUS 1p"/>
                          <a:cs typeface="M PLUS 1p"/>
                        </a:rPr>
                        <a:t>分母</a:t>
                      </a:r>
                    </a:p>
                  </a:txBody>
                  <a:tcPr marL="109728" marR="109728" marT="36576" marB="36576" anchor="ctr">
                    <a:solidFill>
                      <a:srgbClr val="1428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lang="ja-JP" altLang="en-US">
                          <a:solidFill>
                            <a:srgbClr val="FFFFFF"/>
                          </a:solidFill>
                          <a:latin typeface="M PLUS 1p"/>
                          <a:ea typeface="M PLUS 1p"/>
                          <a:cs typeface="M PLUS 1p"/>
                        </a:rPr>
                        <a:t>雲の負荷</a:t>
                      </a:r>
                    </a:p>
                  </a:txBody>
                  <a:tcPr marL="109728" marR="109728" marT="36576" marB="36576" anchor="ctr">
                    <a:solidFill>
                      <a:srgbClr val="1428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lang="ja-JP" altLang="en-US">
                          <a:solidFill>
                            <a:srgbClr val="FFFFFF"/>
                          </a:solidFill>
                          <a:latin typeface="M PLUS 1p"/>
                          <a:ea typeface="M PLUS 1p"/>
                          <a:cs typeface="M PLUS 1p"/>
                        </a:rPr>
                        <a:t>見た目</a:t>
                      </a:r>
                    </a:p>
                  </a:txBody>
                  <a:tcPr marL="109728" marR="109728" marT="36576" marB="36576" anchor="ctr">
                    <a:solidFill>
                      <a:srgbClr val="14284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 b="0" lang="ja-JP" altLang="en-US">
                          <a:solidFill>
                            <a:srgbClr val="1E293B"/>
                          </a:solidFill>
                          <a:latin typeface="M PLUS 1p"/>
                          <a:ea typeface="M PLUS 1p"/>
                          <a:cs typeface="M PLUS 1p"/>
                        </a:rPr>
                        <a:t>1（等倍）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lang="ja-JP" altLang="en-US">
                          <a:solidFill>
                            <a:srgbClr val="1E293B"/>
                          </a:solidFill>
                          <a:latin typeface="M PLUS 1p"/>
                          <a:ea typeface="M PLUS 1p"/>
                          <a:cs typeface="M PLUS 1p"/>
                        </a:rPr>
                        <a:t>1.6〜2.4ms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lang="ja-JP" altLang="en-US">
                          <a:solidFill>
                            <a:srgbClr val="1E293B"/>
                          </a:solidFill>
                          <a:latin typeface="M PLUS 1p"/>
                          <a:ea typeface="M PLUS 1p"/>
                          <a:cs typeface="M PLUS 1p"/>
                        </a:rPr>
                        <a:t>基準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 b="0" lang="ja-JP" altLang="en-US">
                          <a:solidFill>
                            <a:srgbClr val="1E293B"/>
                          </a:solidFill>
                          <a:latin typeface="M PLUS 1p"/>
                          <a:ea typeface="M PLUS 1p"/>
                          <a:cs typeface="M PLUS 1p"/>
                        </a:rPr>
                        <a:t>2（採用）</a:t>
                      </a:r>
                    </a:p>
                  </a:txBody>
                  <a:tcPr marL="109728" marR="109728" marT="36576" marB="36576" anchor="ctr">
                    <a:solidFill>
                      <a:srgbClr val="E6EF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lang="ja-JP" altLang="en-US">
                          <a:solidFill>
                            <a:srgbClr val="1E293B"/>
                          </a:solidFill>
                          <a:latin typeface="M PLUS 1p"/>
                          <a:ea typeface="M PLUS 1p"/>
                          <a:cs typeface="M PLUS 1p"/>
                        </a:rPr>
                        <a:t>0.41〜0.56ms</a:t>
                      </a:r>
                    </a:p>
                  </a:txBody>
                  <a:tcPr marL="109728" marR="109728" marT="36576" marB="36576" anchor="ctr">
                    <a:solidFill>
                      <a:srgbClr val="E6EF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lang="ja-JP" altLang="en-US">
                          <a:solidFill>
                            <a:srgbClr val="1E293B"/>
                          </a:solidFill>
                          <a:latin typeface="M PLUS 1p"/>
                          <a:ea typeface="M PLUS 1p"/>
                          <a:cs typeface="M PLUS 1p"/>
                        </a:rPr>
                        <a:t>等倍と区別がつかない</a:t>
                      </a:r>
                    </a:p>
                  </a:txBody>
                  <a:tcPr marL="109728" marR="109728" marT="36576" marB="36576" anchor="ctr">
                    <a:solidFill>
                      <a:srgbClr val="E6EF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 b="0" lang="ja-JP" altLang="en-US">
                          <a:solidFill>
                            <a:srgbClr val="1E293B"/>
                          </a:solidFill>
                          <a:latin typeface="M PLUS 1p"/>
                          <a:ea typeface="M PLUS 1p"/>
                          <a:cs typeface="M PLUS 1p"/>
                        </a:rPr>
                        <a:t>4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lang="ja-JP" altLang="en-US">
                          <a:solidFill>
                            <a:srgbClr val="1E293B"/>
                          </a:solidFill>
                          <a:latin typeface="M PLUS 1p"/>
                          <a:ea typeface="M PLUS 1p"/>
                          <a:cs typeface="M PLUS 1p"/>
                        </a:rPr>
                        <a:t>0.23〜0.26ms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lang="ja-JP" altLang="en-US">
                          <a:solidFill>
                            <a:srgbClr val="1E293B"/>
                          </a:solidFill>
                          <a:latin typeface="M PLUS 1p"/>
                          <a:ea typeface="M PLUS 1p"/>
                          <a:cs typeface="M PLUS 1p"/>
                        </a:rPr>
                        <a:t>粒が目立つ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09360" y="4480560"/>
            <a:ext cx="52578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lang="ja-JP" altLang="en-US">
                <a:solidFill>
                  <a:srgbClr val="1E293B"/>
                </a:solidFill>
                <a:latin typeface="M PLUS 1p"/>
                <a:ea typeface="M PLUS 1p"/>
                <a:cs typeface="M PLUS 1p"/>
              </a:rPr>
              <a:t>約1/4に下がった</a:t>
            </a:r>
          </a:p>
          <a:p>
            <a:pPr algn="l">
              <a:spcAft>
                <a:spcPts val="600"/>
              </a:spcAft>
            </a:pPr>
            <a:r>
              <a:rPr sz="1600" b="0" lang="ja-JP" altLang="en-US">
                <a:solidFill>
                  <a:srgbClr val="1E293B"/>
                </a:solidFill>
                <a:latin typeface="M PLUS 1p"/>
                <a:ea typeface="M PLUS 1p"/>
                <a:cs typeface="M PLUS 1p"/>
              </a:rPr>
              <a:t>雲はぼやけた形が多く、半分にしても目立たない</a:t>
            </a:r>
          </a:p>
          <a:p>
            <a:pPr algn="l">
              <a:spcAft>
                <a:spcPts val="600"/>
              </a:spcAft>
            </a:pPr>
            <a:r>
              <a:rPr sz="1600" b="0" lang="ja-JP" altLang="en-US">
                <a:solidFill>
                  <a:srgbClr val="1E293B"/>
                </a:solidFill>
                <a:latin typeface="M PLUS 1p"/>
                <a:ea typeface="M PLUS 1p"/>
                <a:cs typeface="M PLUS 1p"/>
              </a:rPr>
              <a:t>拡大時に深度を見て、物体の縁のにじみを抑える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40080" y="365760"/>
            <a:ext cx="10911535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lang="ja-JP" altLang="en-US">
                <a:solidFill>
                  <a:srgbClr val="14284B"/>
                </a:solidFill>
                <a:latin typeface="M PLUS 1p"/>
                <a:ea typeface="M PLUS 1p"/>
                <a:cs typeface="M PLUS 1p"/>
              </a:rPr>
              <a:t>5.負荷：GPUの実測で、雲の品質を4段階に自動調整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lang="ja-JP" altLang="en-US">
                <a:solidFill>
                  <a:srgbClr val="14284B"/>
                </a:solidFill>
                <a:latin typeface="M PLUS 1p"/>
                <a:ea typeface="M PLUS 1p"/>
                <a:cs typeface="M PLUS 1p"/>
              </a:rPr>
              <a:t>なぜ自動調整か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65960"/>
            <a:ext cx="51206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lang="ja-JP" altLang="en-US">
                <a:solidFill>
                  <a:srgbClr val="1E293B"/>
                </a:solidFill>
                <a:latin typeface="M PLUS 1p"/>
                <a:ea typeface="M PLUS 1p"/>
                <a:cs typeface="M PLUS 1p"/>
              </a:rPr>
              <a:t>ノートPCは、電源や熱でGPUの速さが大きく変わる</a:t>
            </a:r>
          </a:p>
          <a:p>
            <a:pPr algn="l">
              <a:spcAft>
                <a:spcPts val="600"/>
              </a:spcAft>
            </a:pPr>
            <a:r>
              <a:rPr sz="1600" b="0" lang="ja-JP" altLang="en-US">
                <a:solidFill>
                  <a:srgbClr val="1E293B"/>
                </a:solidFill>
                <a:latin typeface="M PLUS 1p"/>
                <a:ea typeface="M PLUS 1p"/>
                <a:cs typeface="M PLUS 1p"/>
              </a:rPr>
              <a:t>同じ処理が、日によって1msにも3msにもなった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3200400"/>
          <a:ext cx="51206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3017520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 lang="ja-JP" altLang="en-US">
                          <a:solidFill>
                            <a:srgbClr val="FFFFFF"/>
                          </a:solidFill>
                          <a:latin typeface="M PLUS 1p"/>
                          <a:ea typeface="M PLUS 1p"/>
                          <a:cs typeface="M PLUS 1p"/>
                        </a:rPr>
                        <a:t>方式</a:t>
                      </a:r>
                    </a:p>
                  </a:txBody>
                  <a:tcPr marL="109728" marR="109728" marT="36576" marB="36576" anchor="ctr">
                    <a:solidFill>
                      <a:srgbClr val="1428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lang="ja-JP" altLang="en-US">
                          <a:solidFill>
                            <a:srgbClr val="FFFFFF"/>
                          </a:solidFill>
                          <a:latin typeface="M PLUS 1p"/>
                          <a:ea typeface="M PLUS 1p"/>
                          <a:cs typeface="M PLUS 1p"/>
                        </a:rPr>
                        <a:t>判断</a:t>
                      </a:r>
                    </a:p>
                  </a:txBody>
                  <a:tcPr marL="109728" marR="109728" marT="36576" marB="36576" anchor="ctr">
                    <a:solidFill>
                      <a:srgbClr val="14284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 lang="ja-JP" altLang="en-US">
                          <a:solidFill>
                            <a:srgbClr val="1E293B"/>
                          </a:solidFill>
                          <a:latin typeface="M PLUS 1p"/>
                          <a:ea typeface="M PLUS 1p"/>
                          <a:cs typeface="M PLUS 1p"/>
                        </a:rPr>
                        <a:t>設定で固定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lang="ja-JP" altLang="en-US">
                          <a:solidFill>
                            <a:srgbClr val="1E293B"/>
                          </a:solidFill>
                          <a:latin typeface="M PLUS 1p"/>
                          <a:ea typeface="M PLUS 1p"/>
                          <a:cs typeface="M PLUS 1p"/>
                        </a:rPr>
                        <a:t>状況に追従しない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 lang="ja-JP" altLang="en-US">
                          <a:solidFill>
                            <a:srgbClr val="1E293B"/>
                          </a:solidFill>
                          <a:latin typeface="M PLUS 1p"/>
                          <a:ea typeface="M PLUS 1p"/>
                          <a:cs typeface="M PLUS 1p"/>
                        </a:rPr>
                        <a:t>GPU名で決める</a:t>
                      </a:r>
                    </a:p>
                  </a:txBody>
                  <a:tcPr marL="109728" marR="109728" marT="36576" marB="36576" anchor="ctr">
                    <a:solidFill>
                      <a:srgbClr val="E6EF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lang="ja-JP" altLang="en-US">
                          <a:solidFill>
                            <a:srgbClr val="1E293B"/>
                          </a:solidFill>
                          <a:latin typeface="M PLUS 1p"/>
                          <a:ea typeface="M PLUS 1p"/>
                          <a:cs typeface="M PLUS 1p"/>
                        </a:rPr>
                        <a:t>電源や熱に追従しない</a:t>
                      </a:r>
                    </a:p>
                  </a:txBody>
                  <a:tcPr marL="109728" marR="109728" marT="36576" marB="36576" anchor="ctr">
                    <a:solidFill>
                      <a:srgbClr val="E6EF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 lang="ja-JP" altLang="en-US">
                          <a:solidFill>
                            <a:srgbClr val="1E293B"/>
                          </a:solidFill>
                          <a:latin typeface="M PLUS 1p"/>
                          <a:ea typeface="M PLUS 1p"/>
                          <a:cs typeface="M PLUS 1p"/>
                        </a:rPr>
                        <a:t>実測で調整（採用）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lang="ja-JP" altLang="en-US">
                          <a:solidFill>
                            <a:srgbClr val="1E293B"/>
                          </a:solidFill>
                          <a:latin typeface="M PLUS 1p"/>
                          <a:ea typeface="M PLUS 1p"/>
                          <a:cs typeface="M PLUS 1p"/>
                        </a:rPr>
                        <a:t>追従する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309360" y="141732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lang="ja-JP" altLang="en-US">
                <a:solidFill>
                  <a:srgbClr val="14284B"/>
                </a:solidFill>
                <a:latin typeface="M PLUS 1p"/>
                <a:ea typeface="M PLUS 1p"/>
                <a:cs typeface="M PLUS 1p"/>
              </a:rPr>
              <a:t>段と制御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309360" y="1965960"/>
          <a:ext cx="525780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2011680"/>
                <a:gridCol w="2423160"/>
              </a:tblGrid>
              <a:tr h="411480">
                <a:tc>
                  <a:txBody>
                    <a:bodyPr/>
                    <a:lstStyle/>
                    <a:p>
                      <a:r>
                        <a:rPr sz="1500" b="1" lang="ja-JP" altLang="en-US">
                          <a:solidFill>
                            <a:srgbClr val="FFFFFF"/>
                          </a:solidFill>
                          <a:latin typeface="M PLUS 1p"/>
                          <a:ea typeface="M PLUS 1p"/>
                          <a:cs typeface="M PLUS 1p"/>
                        </a:rPr>
                        <a:t>段</a:t>
                      </a:r>
                    </a:p>
                  </a:txBody>
                  <a:tcPr marL="109728" marR="109728" marT="36576" marB="36576" anchor="ctr">
                    <a:solidFill>
                      <a:srgbClr val="1428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lang="ja-JP" altLang="en-US">
                          <a:solidFill>
                            <a:srgbClr val="FFFFFF"/>
                          </a:solidFill>
                          <a:latin typeface="M PLUS 1p"/>
                          <a:ea typeface="M PLUS 1p"/>
                          <a:cs typeface="M PLUS 1p"/>
                        </a:rPr>
                        <a:t>解像度の分母</a:t>
                      </a:r>
                    </a:p>
                  </a:txBody>
                  <a:tcPr marL="109728" marR="109728" marT="36576" marB="36576" anchor="ctr">
                    <a:solidFill>
                      <a:srgbClr val="1428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lang="ja-JP" altLang="en-US">
                          <a:solidFill>
                            <a:srgbClr val="FFFFFF"/>
                          </a:solidFill>
                          <a:latin typeface="M PLUS 1p"/>
                          <a:ea typeface="M PLUS 1p"/>
                          <a:cs typeface="M PLUS 1p"/>
                        </a:rPr>
                        <a:t>ステップ数の上限</a:t>
                      </a:r>
                    </a:p>
                  </a:txBody>
                  <a:tcPr marL="109728" marR="109728" marT="36576" marB="36576" anchor="ctr">
                    <a:solidFill>
                      <a:srgbClr val="14284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500" b="0" lang="ja-JP" altLang="en-US">
                          <a:solidFill>
                            <a:srgbClr val="1E293B"/>
                          </a:solidFill>
                          <a:latin typeface="M PLUS 1p"/>
                          <a:ea typeface="M PLUS 1p"/>
                          <a:cs typeface="M PLUS 1p"/>
                        </a:rPr>
                        <a:t>0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lang="ja-JP" altLang="en-US">
                          <a:solidFill>
                            <a:srgbClr val="1E293B"/>
                          </a:solidFill>
                          <a:latin typeface="M PLUS 1p"/>
                          <a:ea typeface="M PLUS 1p"/>
                          <a:cs typeface="M PLUS 1p"/>
                        </a:rPr>
                        <a:t>基準どおり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lang="ja-JP" altLang="en-US">
                          <a:solidFill>
                            <a:srgbClr val="1E293B"/>
                          </a:solidFill>
                          <a:latin typeface="M PLUS 1p"/>
                          <a:ea typeface="M PLUS 1p"/>
                          <a:cs typeface="M PLUS 1p"/>
                        </a:rPr>
                        <a:t>64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500" b="0" lang="ja-JP" altLang="en-US">
                          <a:solidFill>
                            <a:srgbClr val="1E293B"/>
                          </a:solidFill>
                          <a:latin typeface="M PLUS 1p"/>
                          <a:ea typeface="M PLUS 1p"/>
                          <a:cs typeface="M PLUS 1p"/>
                        </a:rPr>
                        <a:t>1</a:t>
                      </a:r>
                    </a:p>
                  </a:txBody>
                  <a:tcPr marL="109728" marR="109728" marT="36576" marB="36576" anchor="ctr">
                    <a:solidFill>
                      <a:srgbClr val="E6EF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lang="ja-JP" altLang="en-US">
                          <a:solidFill>
                            <a:srgbClr val="1E293B"/>
                          </a:solidFill>
                          <a:latin typeface="M PLUS 1p"/>
                          <a:ea typeface="M PLUS 1p"/>
                          <a:cs typeface="M PLUS 1p"/>
                        </a:rPr>
                        <a:t>2</a:t>
                      </a:r>
                    </a:p>
                  </a:txBody>
                  <a:tcPr marL="109728" marR="109728" marT="36576" marB="36576" anchor="ctr">
                    <a:solidFill>
                      <a:srgbClr val="E6EF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lang="ja-JP" altLang="en-US">
                          <a:solidFill>
                            <a:srgbClr val="1E293B"/>
                          </a:solidFill>
                          <a:latin typeface="M PLUS 1p"/>
                          <a:ea typeface="M PLUS 1p"/>
                          <a:cs typeface="M PLUS 1p"/>
                        </a:rPr>
                        <a:t>24</a:t>
                      </a:r>
                    </a:p>
                  </a:txBody>
                  <a:tcPr marL="109728" marR="109728" marT="36576" marB="36576" anchor="ctr">
                    <a:solidFill>
                      <a:srgbClr val="E6EFF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500" b="0" lang="ja-JP" altLang="en-US">
                          <a:solidFill>
                            <a:srgbClr val="1E293B"/>
                          </a:solidFill>
                          <a:latin typeface="M PLUS 1p"/>
                          <a:ea typeface="M PLUS 1p"/>
                          <a:cs typeface="M PLUS 1p"/>
                        </a:rPr>
                        <a:t>2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lang="ja-JP" altLang="en-US">
                          <a:solidFill>
                            <a:srgbClr val="1E293B"/>
                          </a:solidFill>
                          <a:latin typeface="M PLUS 1p"/>
                          <a:ea typeface="M PLUS 1p"/>
                          <a:cs typeface="M PLUS 1p"/>
                        </a:rPr>
                        <a:t>2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lang="ja-JP" altLang="en-US">
                          <a:solidFill>
                            <a:srgbClr val="1E293B"/>
                          </a:solidFill>
                          <a:latin typeface="M PLUS 1p"/>
                          <a:ea typeface="M PLUS 1p"/>
                          <a:cs typeface="M PLUS 1p"/>
                        </a:rPr>
                        <a:t>16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500" b="0" lang="ja-JP" altLang="en-US">
                          <a:solidFill>
                            <a:srgbClr val="1E293B"/>
                          </a:solidFill>
                          <a:latin typeface="M PLUS 1p"/>
                          <a:ea typeface="M PLUS 1p"/>
                          <a:cs typeface="M PLUS 1p"/>
                        </a:rPr>
                        <a:t>3</a:t>
                      </a:r>
                    </a:p>
                  </a:txBody>
                  <a:tcPr marL="109728" marR="109728" marT="36576" marB="36576" anchor="ctr">
                    <a:solidFill>
                      <a:srgbClr val="E6EF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lang="ja-JP" altLang="en-US">
                          <a:solidFill>
                            <a:srgbClr val="1E293B"/>
                          </a:solidFill>
                          <a:latin typeface="M PLUS 1p"/>
                          <a:ea typeface="M PLUS 1p"/>
                          <a:cs typeface="M PLUS 1p"/>
                        </a:rPr>
                        <a:t>4</a:t>
                      </a:r>
                    </a:p>
                  </a:txBody>
                  <a:tcPr marL="109728" marR="109728" marT="36576" marB="36576" anchor="ctr">
                    <a:solidFill>
                      <a:srgbClr val="E6EF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lang="ja-JP" altLang="en-US">
                          <a:solidFill>
                            <a:srgbClr val="1E293B"/>
                          </a:solidFill>
                          <a:latin typeface="M PLUS 1p"/>
                          <a:ea typeface="M PLUS 1p"/>
                          <a:cs typeface="M PLUS 1p"/>
                        </a:rPr>
                        <a:t>16</a:t>
                      </a:r>
                    </a:p>
                  </a:txBody>
                  <a:tcPr marL="109728" marR="109728" marT="36576" marB="36576" anchor="ctr">
                    <a:solidFill>
                      <a:srgbClr val="E6EFFB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309360" y="4206240"/>
            <a:ext cx="52578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lang="ja-JP" altLang="en-US">
                <a:solidFill>
                  <a:srgbClr val="1E293B"/>
                </a:solidFill>
                <a:latin typeface="M PLUS 1p"/>
                <a:ea typeface="M PLUS 1p"/>
                <a:cs typeface="M PLUS 1p"/>
              </a:rPr>
              <a:t>13msを超えたら、1段下げる</a:t>
            </a:r>
          </a:p>
          <a:p>
            <a:pPr algn="l">
              <a:spcAft>
                <a:spcPts val="600"/>
              </a:spcAft>
            </a:pPr>
            <a:r>
              <a:rPr sz="1600" b="0" lang="ja-JP" altLang="en-US">
                <a:solidFill>
                  <a:srgbClr val="1E293B"/>
                </a:solidFill>
                <a:latin typeface="M PLUS 1p"/>
                <a:ea typeface="M PLUS 1p"/>
                <a:cs typeface="M PLUS 1p"/>
              </a:rPr>
              <a:t>8ms未満が続けば、1段上げる</a:t>
            </a:r>
          </a:p>
          <a:p>
            <a:pPr algn="l">
              <a:spcAft>
                <a:spcPts val="600"/>
              </a:spcAft>
            </a:pPr>
            <a:r>
              <a:rPr sz="1600" b="0" lang="ja-JP" altLang="en-US">
                <a:solidFill>
                  <a:srgbClr val="1E293B"/>
                </a:solidFill>
                <a:latin typeface="M PLUS 1p"/>
                <a:ea typeface="M PLUS 1p"/>
                <a:cs typeface="M PLUS 1p"/>
              </a:rPr>
              <a:t>上げてすぐ下がれば、待ち時間を倍にする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40080" y="365760"/>
            <a:ext cx="10911535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lang="ja-JP" altLang="en-US">
                <a:solidFill>
                  <a:srgbClr val="14284B"/>
                </a:solidFill>
                <a:latin typeface="M PLUS 1p"/>
                <a:ea typeface="M PLUS 1p"/>
                <a:cs typeface="M PLUS 1p"/>
              </a:rPr>
              <a:t>6.問題と解決：縞とドットを、ずらしとぼかしで消した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554480"/>
            <a:ext cx="3429000" cy="3291840"/>
          </a:xfrm>
          <a:prstGeom prst="roundRect">
            <a:avLst>
              <a:gd name="adj" fmla="val 8000"/>
            </a:avLst>
          </a:prstGeom>
          <a:solidFill>
            <a:srgbClr val="E6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" y="1783080"/>
            <a:ext cx="548640" cy="548640"/>
          </a:xfrm>
          <a:prstGeom prst="ellipse">
            <a:avLst/>
          </a:prstGeom>
          <a:solidFill>
            <a:srgbClr val="2F6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 lang="ja-JP" altLang="en-US">
                <a:solidFill>
                  <a:srgbClr val="FFFFFF"/>
                </a:solidFill>
                <a:latin typeface="M PLUS 1p"/>
                <a:ea typeface="M PLUS 1p"/>
                <a:cs typeface="M PLUS 1p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783080"/>
            <a:ext cx="22402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lang="ja-JP" altLang="en-US">
                <a:solidFill>
                  <a:srgbClr val="14284B"/>
                </a:solidFill>
                <a:latin typeface="M PLUS 1p"/>
                <a:ea typeface="M PLUS 1p"/>
                <a:cs typeface="M PLUS 1p"/>
              </a:rPr>
              <a:t>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06040"/>
            <a:ext cx="2880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lang="ja-JP" altLang="en-US">
                <a:solidFill>
                  <a:srgbClr val="5B697F"/>
                </a:solidFill>
                <a:latin typeface="M PLUS 1p"/>
                <a:ea typeface="M PLUS 1p"/>
                <a:cs typeface="M PLUS 1p"/>
              </a:rPr>
              <a:t>歩幅が粗く、雲の表面が段状にずれる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11880"/>
            <a:ext cx="28803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lang="ja-JP" altLang="en-US">
                <a:solidFill>
                  <a:srgbClr val="14284B"/>
                </a:solidFill>
                <a:latin typeface="M PLUS 1p"/>
                <a:ea typeface="M PLUS 1p"/>
                <a:cs typeface="M PLUS 1p"/>
              </a:rPr>
              <a:t>→ 画素ごとに位置をずらす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554480"/>
            <a:ext cx="3429000" cy="3291840"/>
          </a:xfrm>
          <a:prstGeom prst="roundRect">
            <a:avLst>
              <a:gd name="adj" fmla="val 8000"/>
            </a:avLst>
          </a:prstGeom>
          <a:solidFill>
            <a:srgbClr val="E6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709160" y="1783080"/>
            <a:ext cx="548640" cy="548640"/>
          </a:xfrm>
          <a:prstGeom prst="ellipse">
            <a:avLst/>
          </a:prstGeom>
          <a:solidFill>
            <a:srgbClr val="2F6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 lang="ja-JP" altLang="en-US">
                <a:solidFill>
                  <a:srgbClr val="FFFFFF"/>
                </a:solidFill>
                <a:latin typeface="M PLUS 1p"/>
                <a:ea typeface="M PLUS 1p"/>
                <a:cs typeface="M PLUS 1p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40680" y="1783080"/>
            <a:ext cx="22402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lang="ja-JP" altLang="en-US">
                <a:solidFill>
                  <a:srgbClr val="14284B"/>
                </a:solidFill>
                <a:latin typeface="M PLUS 1p"/>
                <a:ea typeface="M PLUS 1p"/>
                <a:cs typeface="M PLUS 1p"/>
              </a:rPr>
              <a:t>ドット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2606040"/>
            <a:ext cx="2880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lang="ja-JP" altLang="en-US">
                <a:solidFill>
                  <a:srgbClr val="5B697F"/>
                </a:solidFill>
                <a:latin typeface="M PLUS 1p"/>
                <a:ea typeface="M PLUS 1p"/>
                <a:cs typeface="M PLUS 1p"/>
              </a:rPr>
              <a:t>ずらしの乱数が格子状で、2倍拡大が重なる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3611880"/>
            <a:ext cx="28803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lang="ja-JP" altLang="en-US">
                <a:solidFill>
                  <a:srgbClr val="14284B"/>
                </a:solidFill>
                <a:latin typeface="M PLUS 1p"/>
                <a:ea typeface="M PLUS 1p"/>
                <a:cs typeface="M PLUS 1p"/>
              </a:rPr>
              <a:t>→ 青色雑音に替え、拡大時にぼかす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554480"/>
            <a:ext cx="3429000" cy="3291840"/>
          </a:xfrm>
          <a:prstGeom prst="roundRect">
            <a:avLst>
              <a:gd name="adj" fmla="val 8000"/>
            </a:avLst>
          </a:prstGeom>
          <a:solidFill>
            <a:srgbClr val="E6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503920" y="1783080"/>
            <a:ext cx="548640" cy="548640"/>
          </a:xfrm>
          <a:prstGeom prst="ellipse">
            <a:avLst/>
          </a:prstGeom>
          <a:solidFill>
            <a:srgbClr val="F28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 lang="ja-JP" altLang="en-US">
                <a:solidFill>
                  <a:srgbClr val="FFFFFF"/>
                </a:solidFill>
                <a:latin typeface="M PLUS 1p"/>
                <a:ea typeface="M PLUS 1p"/>
                <a:cs typeface="M PLUS 1p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1783080"/>
            <a:ext cx="22402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lang="ja-JP" altLang="en-US">
                <a:solidFill>
                  <a:srgbClr val="14284B"/>
                </a:solidFill>
                <a:latin typeface="M PLUS 1p"/>
                <a:ea typeface="M PLUS 1p"/>
                <a:cs typeface="M PLUS 1p"/>
              </a:rPr>
              <a:t>結果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2606040"/>
            <a:ext cx="2880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lang="ja-JP" altLang="en-US">
                <a:solidFill>
                  <a:srgbClr val="5B697F"/>
                </a:solidFill>
                <a:latin typeface="M PLUS 1p"/>
                <a:ea typeface="M PLUS 1p"/>
                <a:cs typeface="M PLUS 1p"/>
              </a:rPr>
              <a:t>ドットは消えた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3611880"/>
            <a:ext cx="28803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lang="ja-JP" altLang="en-US">
                <a:solidFill>
                  <a:srgbClr val="14284B"/>
                </a:solidFill>
                <a:latin typeface="M PLUS 1p"/>
                <a:ea typeface="M PLUS 1p"/>
                <a:cs typeface="M PLUS 1p"/>
              </a:rPr>
              <a:t>→ 代わりに、縁が少しやわらかくなった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120640"/>
            <a:ext cx="1091153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lang="ja-JP" altLang="en-US">
                <a:solidFill>
                  <a:srgbClr val="1E293B"/>
                </a:solidFill>
                <a:latin typeface="M PLUS 1p"/>
                <a:ea typeface="M PLUS 1p"/>
                <a:cs typeface="M PLUS 1p"/>
              </a:rPr>
              <a:t>対策は4つ比べた：ぼかし、青色雑音、時間方向の平均、歩数を増やす</a:t>
            </a:r>
          </a:p>
          <a:p>
            <a:pPr algn="l">
              <a:spcAft>
                <a:spcPts val="600"/>
              </a:spcAft>
            </a:pPr>
            <a:r>
              <a:rPr sz="1700" b="0" lang="ja-JP" altLang="en-US">
                <a:solidFill>
                  <a:srgbClr val="1E293B"/>
                </a:solidFill>
                <a:latin typeface="M PLUS 1p"/>
                <a:ea typeface="M PLUS 1p"/>
                <a:cs typeface="M PLUS 1p"/>
              </a:rPr>
              <a:t>効果と負担から、ぼかしと青色雑音を先に採用した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40080" y="365760"/>
            <a:ext cx="10911535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lang="ja-JP" altLang="en-US">
                <a:solidFill>
                  <a:srgbClr val="14284B"/>
                </a:solidFill>
                <a:latin typeface="M PLUS 1p"/>
                <a:ea typeface="M PLUS 1p"/>
                <a:cs typeface="M PLUS 1p"/>
              </a:rPr>
              <a:t>7.未解決：カメラが進むと、雲海が陽炎のように揺れる</a:t>
            </a:r>
          </a:p>
        </p:txBody>
      </p:sp>
      <p:pic>
        <p:nvPicPr>
          <p:cNvPr id="3" name="Picture 2" descr="kagerou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0"/>
            <a:ext cx="5486400" cy="306552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4821174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lang="ja-JP" altLang="en-US">
                <a:solidFill>
                  <a:srgbClr val="5B697F"/>
                </a:solidFill>
                <a:latin typeface="M PLUS 1p"/>
                <a:ea typeface="M PLUS 1p"/>
                <a:cs typeface="M PLUS 1p"/>
              </a:rPr>
              <a:t>動かしたときだけ発生。静止画では出ない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349240"/>
            <a:ext cx="5486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lang="ja-JP" altLang="en-US">
                <a:solidFill>
                  <a:srgbClr val="1E293B"/>
                </a:solidFill>
                <a:latin typeface="M PLUS 1p"/>
                <a:ea typeface="M PLUS 1p"/>
                <a:cs typeface="M PLUS 1p"/>
              </a:rPr>
              <a:t>気づいたきっかけ：</a:t>
            </a:r>
          </a:p>
          <a:p>
            <a:pPr algn="l">
              <a:spcAft>
                <a:spcPts val="200"/>
              </a:spcAft>
            </a:pPr>
            <a:r>
              <a:rPr sz="1500" b="0" lang="ja-JP" altLang="en-US">
                <a:solidFill>
                  <a:srgbClr val="1E293B"/>
                </a:solidFill>
                <a:latin typeface="M PLUS 1p"/>
                <a:ea typeface="M PLUS 1p"/>
                <a:cs typeface="M PLUS 1p"/>
              </a:rPr>
              <a:t>開発用は、開始までカメラが止まっていて、</a:t>
            </a:r>
          </a:p>
          <a:p>
            <a:pPr algn="l">
              <a:spcAft>
                <a:spcPts val="200"/>
              </a:spcAft>
            </a:pPr>
            <a:r>
              <a:rPr sz="1500" b="0" lang="ja-JP" altLang="en-US">
                <a:solidFill>
                  <a:srgbClr val="1E293B"/>
                </a:solidFill>
                <a:latin typeface="M PLUS 1p"/>
                <a:ea typeface="M PLUS 1p"/>
                <a:cs typeface="M PLUS 1p"/>
              </a:rPr>
              <a:t>製品版は最初から進むので、揺れが見えた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55448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lang="ja-JP" altLang="en-US">
                <a:solidFill>
                  <a:srgbClr val="14284B"/>
                </a:solidFill>
                <a:latin typeface="M PLUS 1p"/>
                <a:ea typeface="M PLUS 1p"/>
                <a:cs typeface="M PLUS 1p"/>
              </a:rPr>
              <a:t>原因の仮説は4つ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92240" y="2103120"/>
          <a:ext cx="507492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3160"/>
                <a:gridCol w="1828800"/>
                <a:gridCol w="822960"/>
              </a:tblGrid>
              <a:tr h="530352">
                <a:tc>
                  <a:txBody>
                    <a:bodyPr/>
                    <a:lstStyle/>
                    <a:p>
                      <a:r>
                        <a:rPr sz="1600" b="1" lang="ja-JP" altLang="en-US">
                          <a:solidFill>
                            <a:srgbClr val="FFFFFF"/>
                          </a:solidFill>
                          <a:latin typeface="M PLUS 1p"/>
                          <a:ea typeface="M PLUS 1p"/>
                          <a:cs typeface="M PLUS 1p"/>
                        </a:rPr>
                        <a:t>仮説</a:t>
                      </a:r>
                    </a:p>
                  </a:txBody>
                  <a:tcPr marL="109728" marR="109728" marT="36576" marB="36576" anchor="ctr">
                    <a:solidFill>
                      <a:srgbClr val="1428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 lang="ja-JP" altLang="en-US">
                          <a:solidFill>
                            <a:srgbClr val="FFFFFF"/>
                          </a:solidFill>
                          <a:latin typeface="M PLUS 1p"/>
                          <a:ea typeface="M PLUS 1p"/>
                          <a:cs typeface="M PLUS 1p"/>
                        </a:rPr>
                        <a:t>対策</a:t>
                      </a:r>
                    </a:p>
                  </a:txBody>
                  <a:tcPr marL="109728" marR="109728" marT="36576" marB="36576" anchor="ctr">
                    <a:solidFill>
                      <a:srgbClr val="1428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 lang="ja-JP" altLang="en-US">
                          <a:solidFill>
                            <a:srgbClr val="FFFFFF"/>
                          </a:solidFill>
                          <a:latin typeface="M PLUS 1p"/>
                          <a:ea typeface="M PLUS 1p"/>
                          <a:cs typeface="M PLUS 1p"/>
                        </a:rPr>
                        <a:t>規模</a:t>
                      </a:r>
                    </a:p>
                  </a:txBody>
                  <a:tcPr marL="109728" marR="109728" marT="36576" marB="36576" anchor="ctr">
                    <a:solidFill>
                      <a:srgbClr val="14284B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600" b="0" lang="ja-JP" altLang="en-US">
                          <a:solidFill>
                            <a:srgbClr val="1E293B"/>
                          </a:solidFill>
                          <a:latin typeface="M PLUS 1p"/>
                          <a:ea typeface="M PLUS 1p"/>
                          <a:cs typeface="M PLUS 1p"/>
                        </a:rPr>
                        <a:t>ノイズ層の視差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lang="ja-JP" altLang="en-US">
                          <a:solidFill>
                            <a:srgbClr val="1E293B"/>
                          </a:solidFill>
                          <a:latin typeface="M PLUS 1p"/>
                          <a:ea typeface="M PLUS 1p"/>
                          <a:cs typeface="M PLUS 1p"/>
                        </a:rPr>
                        <a:t>雲底を詰める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lang="ja-JP" altLang="en-US">
                          <a:solidFill>
                            <a:srgbClr val="1E293B"/>
                          </a:solidFill>
                          <a:latin typeface="M PLUS 1p"/>
                          <a:ea typeface="M PLUS 1p"/>
                          <a:cs typeface="M PLUS 1p"/>
                        </a:rPr>
                        <a:t>小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600" b="0" lang="ja-JP" altLang="en-US">
                          <a:solidFill>
                            <a:srgbClr val="1E293B"/>
                          </a:solidFill>
                          <a:latin typeface="M PLUS 1p"/>
                          <a:ea typeface="M PLUS 1p"/>
                          <a:cs typeface="M PLUS 1p"/>
                        </a:rPr>
                        <a:t>ステップの量子化</a:t>
                      </a:r>
                    </a:p>
                  </a:txBody>
                  <a:tcPr marL="109728" marR="109728" marT="36576" marB="36576" anchor="ctr">
                    <a:solidFill>
                      <a:srgbClr val="E6EF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lang="ja-JP" altLang="en-US">
                          <a:solidFill>
                            <a:srgbClr val="1E293B"/>
                          </a:solidFill>
                          <a:latin typeface="M PLUS 1p"/>
                          <a:ea typeface="M PLUS 1p"/>
                          <a:cs typeface="M PLUS 1p"/>
                        </a:rPr>
                        <a:t>二分探索</a:t>
                      </a:r>
                    </a:p>
                  </a:txBody>
                  <a:tcPr marL="109728" marR="109728" marT="36576" marB="36576" anchor="ctr">
                    <a:solidFill>
                      <a:srgbClr val="E6EF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lang="ja-JP" altLang="en-US">
                          <a:solidFill>
                            <a:srgbClr val="1E293B"/>
                          </a:solidFill>
                          <a:latin typeface="M PLUS 1p"/>
                          <a:ea typeface="M PLUS 1p"/>
                          <a:cs typeface="M PLUS 1p"/>
                        </a:rPr>
                        <a:t>中</a:t>
                      </a:r>
                    </a:p>
                  </a:txBody>
                  <a:tcPr marL="109728" marR="109728" marT="36576" marB="36576" anchor="ctr">
                    <a:solidFill>
                      <a:srgbClr val="E6EFFB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600" b="0" lang="ja-JP" altLang="en-US">
                          <a:solidFill>
                            <a:srgbClr val="1E293B"/>
                          </a:solidFill>
                          <a:latin typeface="M PLUS 1p"/>
                          <a:ea typeface="M PLUS 1p"/>
                          <a:cs typeface="M PLUS 1p"/>
                        </a:rPr>
                        <a:t>画面固定ノイズ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lang="ja-JP" altLang="en-US">
                          <a:solidFill>
                            <a:srgbClr val="1E293B"/>
                          </a:solidFill>
                          <a:latin typeface="M PLUS 1p"/>
                          <a:ea typeface="M PLUS 1p"/>
                          <a:cs typeface="M PLUS 1p"/>
                        </a:rPr>
                        <a:t>時間方向の蓄積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lang="ja-JP" altLang="en-US">
                          <a:solidFill>
                            <a:srgbClr val="1E293B"/>
                          </a:solidFill>
                          <a:latin typeface="M PLUS 1p"/>
                          <a:ea typeface="M PLUS 1p"/>
                          <a:cs typeface="M PLUS 1p"/>
                        </a:rPr>
                        <a:t>大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600" b="0" lang="ja-JP" altLang="en-US">
                          <a:solidFill>
                            <a:srgbClr val="1E293B"/>
                          </a:solidFill>
                          <a:latin typeface="M PLUS 1p"/>
                          <a:ea typeface="M PLUS 1p"/>
                          <a:cs typeface="M PLUS 1p"/>
                        </a:rPr>
                        <a:t>低解像度の縁</a:t>
                      </a:r>
                    </a:p>
                  </a:txBody>
                  <a:tcPr marL="109728" marR="109728" marT="36576" marB="36576" anchor="ctr">
                    <a:solidFill>
                      <a:srgbClr val="E6EF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lang="ja-JP" altLang="en-US">
                          <a:solidFill>
                            <a:srgbClr val="1E293B"/>
                          </a:solidFill>
                          <a:latin typeface="M PLUS 1p"/>
                          <a:ea typeface="M PLUS 1p"/>
                          <a:cs typeface="M PLUS 1p"/>
                        </a:rPr>
                        <a:t>縁だけ高解像度</a:t>
                      </a:r>
                    </a:p>
                  </a:txBody>
                  <a:tcPr marL="109728" marR="109728" marT="36576" marB="36576" anchor="ctr">
                    <a:solidFill>
                      <a:srgbClr val="E6EF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lang="ja-JP" altLang="en-US">
                          <a:solidFill>
                            <a:srgbClr val="1E293B"/>
                          </a:solidFill>
                          <a:latin typeface="M PLUS 1p"/>
                          <a:ea typeface="M PLUS 1p"/>
                          <a:cs typeface="M PLUS 1p"/>
                        </a:rPr>
                        <a:t>大</a:t>
                      </a:r>
                    </a:p>
                  </a:txBody>
                  <a:tcPr marL="109728" marR="109728" marT="36576" marB="36576" anchor="ctr">
                    <a:solidFill>
                      <a:srgbClr val="E6EFFB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92240" y="4937760"/>
            <a:ext cx="50292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lang="ja-JP" altLang="en-US">
                <a:solidFill>
                  <a:srgbClr val="14284B"/>
                </a:solidFill>
                <a:latin typeface="M PLUS 1p"/>
                <a:ea typeface="M PLUS 1p"/>
                <a:cs typeface="M PLUS 1p"/>
              </a:rPr>
              <a:t>静止画の縦の像は、雲底を足して消えた</a:t>
            </a:r>
          </a:p>
          <a:p>
            <a:pPr algn="l">
              <a:spcAft>
                <a:spcPts val="400"/>
              </a:spcAft>
            </a:pPr>
            <a:r>
              <a:rPr sz="1600" b="1" lang="ja-JP" altLang="en-US">
                <a:solidFill>
                  <a:srgbClr val="14284B"/>
                </a:solidFill>
                <a:latin typeface="M PLUS 1p"/>
                <a:ea typeface="M PLUS 1p"/>
                <a:cs typeface="M PLUS 1p"/>
              </a:rPr>
              <a:t>動いたときは未確認。小さい対策から検証する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40080" y="365760"/>
            <a:ext cx="10911535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lang="ja-JP" altLang="en-US">
                <a:solidFill>
                  <a:srgbClr val="14284B"/>
                </a:solidFill>
                <a:latin typeface="M PLUS 1p"/>
                <a:ea typeface="M PLUS 1p"/>
                <a:cs typeface="M PLUS 1p"/>
              </a:rPr>
              <a:t>8.今後の構想（未実装）：雲を隠れ場所にする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737360"/>
            <a:ext cx="3291840" cy="2651760"/>
          </a:xfrm>
          <a:prstGeom prst="roundRect">
            <a:avLst>
              <a:gd name="adj" fmla="val 8000"/>
            </a:avLst>
          </a:prstGeom>
          <a:solidFill>
            <a:srgbClr val="E6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19" y="2103120"/>
            <a:ext cx="2651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lang="ja-JP" altLang="en-US">
                <a:solidFill>
                  <a:srgbClr val="1E293B"/>
                </a:solidFill>
                <a:latin typeface="M PLUS 1p"/>
                <a:ea typeface="M PLUS 1p"/>
                <a:cs typeface="M PLUS 1p"/>
              </a:rPr>
              <a:t>雲の外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19" y="2926080"/>
            <a:ext cx="26517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 lang="ja-JP" altLang="en-US">
                <a:solidFill>
                  <a:srgbClr val="1E293B"/>
                </a:solidFill>
                <a:latin typeface="M PLUS 1p"/>
                <a:ea typeface="M PLUS 1p"/>
                <a:cs typeface="M PLUS 1p"/>
              </a:rPr>
              <a:t>敵が見える</a:t>
            </a:r>
          </a:p>
          <a:p>
            <a:pPr algn="l">
              <a:spcAft>
                <a:spcPts val="400"/>
              </a:spcAft>
            </a:pPr>
            <a:r>
              <a:rPr sz="2000" b="0" lang="ja-JP" altLang="en-US">
                <a:solidFill>
                  <a:srgbClr val="1E293B"/>
                </a:solidFill>
                <a:latin typeface="M PLUS 1p"/>
                <a:ea typeface="M PLUS 1p"/>
                <a:cs typeface="M PLUS 1p"/>
              </a:rPr>
              <a:t>ロックオンできる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995928" y="2880359"/>
            <a:ext cx="384048" cy="365760"/>
          </a:xfrm>
          <a:prstGeom prst="rightArrow">
            <a:avLst/>
          </a:prstGeom>
          <a:solidFill>
            <a:srgbClr val="5B69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434840" y="1737360"/>
            <a:ext cx="3291840" cy="2651760"/>
          </a:xfrm>
          <a:prstGeom prst="roundRect">
            <a:avLst>
              <a:gd name="adj" fmla="val 8000"/>
            </a:avLst>
          </a:prstGeom>
          <a:solidFill>
            <a:srgbClr val="8FA3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0" y="2103120"/>
            <a:ext cx="2651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lang="ja-JP" altLang="en-US">
                <a:solidFill>
                  <a:srgbClr val="FFFFFF"/>
                </a:solidFill>
                <a:latin typeface="M PLUS 1p"/>
                <a:ea typeface="M PLUS 1p"/>
                <a:cs typeface="M PLUS 1p"/>
              </a:rPr>
              <a:t>雲の中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2926080"/>
            <a:ext cx="26517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 lang="ja-JP" altLang="en-US">
                <a:solidFill>
                  <a:srgbClr val="FFFFFF"/>
                </a:solidFill>
                <a:latin typeface="M PLUS 1p"/>
                <a:ea typeface="M PLUS 1p"/>
                <a:cs typeface="M PLUS 1p"/>
              </a:rPr>
              <a:t>敵はシルエットだけ</a:t>
            </a:r>
          </a:p>
          <a:p>
            <a:pPr algn="l">
              <a:spcAft>
                <a:spcPts val="400"/>
              </a:spcAft>
            </a:pPr>
            <a:r>
              <a:rPr sz="2000" b="0" lang="ja-JP" altLang="en-US">
                <a:solidFill>
                  <a:srgbClr val="FFFFFF"/>
                </a:solidFill>
                <a:latin typeface="M PLUS 1p"/>
                <a:ea typeface="M PLUS 1p"/>
                <a:cs typeface="M PLUS 1p"/>
              </a:rPr>
              <a:t>ロックオンできない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790688" y="2880359"/>
            <a:ext cx="384048" cy="365760"/>
          </a:xfrm>
          <a:prstGeom prst="rightArrow">
            <a:avLst/>
          </a:prstGeom>
          <a:solidFill>
            <a:srgbClr val="5B69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0" y="1737360"/>
            <a:ext cx="3291840" cy="2651760"/>
          </a:xfrm>
          <a:prstGeom prst="roundRect">
            <a:avLst>
              <a:gd name="adj" fmla="val 8000"/>
            </a:avLst>
          </a:prstGeom>
          <a:solidFill>
            <a:srgbClr val="F28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49640" y="2103120"/>
            <a:ext cx="2651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lang="ja-JP" altLang="en-US">
                <a:solidFill>
                  <a:srgbClr val="FFFFFF"/>
                </a:solidFill>
                <a:latin typeface="M PLUS 1p"/>
                <a:ea typeface="M PLUS 1p"/>
                <a:cs typeface="M PLUS 1p"/>
              </a:rPr>
              <a:t>雲を抜けた直後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2926080"/>
            <a:ext cx="26517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 lang="ja-JP" altLang="en-US">
                <a:solidFill>
                  <a:srgbClr val="FFFFFF"/>
                </a:solidFill>
                <a:latin typeface="M PLUS 1p"/>
                <a:ea typeface="M PLUS 1p"/>
                <a:cs typeface="M PLUS 1p"/>
              </a:rPr>
              <a:t>ロックオンして</a:t>
            </a:r>
          </a:p>
          <a:p>
            <a:pPr algn="l">
              <a:spcAft>
                <a:spcPts val="400"/>
              </a:spcAft>
            </a:pPr>
            <a:r>
              <a:rPr sz="2000" b="0" lang="ja-JP" altLang="en-US">
                <a:solidFill>
                  <a:srgbClr val="FFFFFF"/>
                </a:solidFill>
                <a:latin typeface="M PLUS 1p"/>
                <a:ea typeface="M PLUS 1p"/>
                <a:cs typeface="M PLUS 1p"/>
              </a:rPr>
              <a:t>一斉射撃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937760"/>
            <a:ext cx="10911535" cy="1097280"/>
          </a:xfrm>
          <a:prstGeom prst="roundRect">
            <a:avLst>
              <a:gd name="adj" fmla="val 8000"/>
            </a:avLst>
          </a:prstGeom>
          <a:solidFill>
            <a:srgbClr val="142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937760"/>
            <a:ext cx="10180015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lang="ja-JP" altLang="en-US">
                <a:solidFill>
                  <a:srgbClr val="FFFFFF"/>
                </a:solidFill>
                <a:latin typeface="M PLUS 1p"/>
                <a:ea typeface="M PLUS 1p"/>
                <a:cs typeface="M PLUS 1p"/>
              </a:rPr>
              <a:t>未実装：現状、雲は背景だけ。この動きをこれから作る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8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40080" y="365760"/>
            <a:ext cx="10911535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lang="ja-JP" altLang="en-US">
                <a:solidFill>
                  <a:srgbClr val="FFFFFF"/>
                </a:solidFill>
                <a:latin typeface="M PLUS 1p"/>
                <a:ea typeface="M PLUS 1p"/>
                <a:cs typeface="M PLUS 1p"/>
              </a:rPr>
              <a:t>9.今後：雲を遊びに接続し、ボスとリボンを作り込む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554480"/>
            <a:ext cx="4937760" cy="1005840"/>
          </a:xfrm>
          <a:prstGeom prst="roundRect">
            <a:avLst>
              <a:gd name="adj" fmla="val 8000"/>
            </a:avLst>
          </a:prstGeom>
          <a:solidFill>
            <a:srgbClr val="1F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438912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lang="ja-JP" altLang="en-US">
                <a:solidFill>
                  <a:srgbClr val="FFFFFF"/>
                </a:solidFill>
                <a:latin typeface="M PLUS 1p"/>
                <a:ea typeface="M PLUS 1p"/>
                <a:cs typeface="M PLUS 1p"/>
              </a:rPr>
              <a:t>雲が、背景だけ</a:t>
            </a:r>
          </a:p>
        </p:txBody>
      </p:sp>
      <p:sp>
        <p:nvSpPr>
          <p:cNvPr id="5" name="Right Arrow 4"/>
          <p:cNvSpPr/>
          <p:nvPr/>
        </p:nvSpPr>
        <p:spPr>
          <a:xfrm>
            <a:off x="5715000" y="1874519"/>
            <a:ext cx="548640" cy="365760"/>
          </a:xfrm>
          <a:prstGeom prst="rightArrow">
            <a:avLst/>
          </a:prstGeom>
          <a:solidFill>
            <a:srgbClr val="F28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0" y="1554480"/>
            <a:ext cx="5120640" cy="1005840"/>
          </a:xfrm>
          <a:prstGeom prst="roundRect">
            <a:avLst>
              <a:gd name="adj" fmla="val 8000"/>
            </a:avLst>
          </a:prstGeom>
          <a:solidFill>
            <a:srgbClr val="F28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0" y="1554480"/>
            <a:ext cx="457200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lang="ja-JP" altLang="en-US">
                <a:solidFill>
                  <a:srgbClr val="FFFFFF"/>
                </a:solidFill>
                <a:latin typeface="M PLUS 1p"/>
                <a:ea typeface="M PLUS 1p"/>
                <a:cs typeface="M PLUS 1p"/>
              </a:rPr>
              <a:t>視界とロックオンに反映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743200"/>
            <a:ext cx="4937760" cy="1005840"/>
          </a:xfrm>
          <a:prstGeom prst="roundRect">
            <a:avLst>
              <a:gd name="adj" fmla="val 8000"/>
            </a:avLst>
          </a:prstGeom>
          <a:solidFill>
            <a:srgbClr val="1F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743200"/>
            <a:ext cx="438912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lang="ja-JP" altLang="en-US">
                <a:solidFill>
                  <a:srgbClr val="FFFFFF"/>
                </a:solidFill>
                <a:latin typeface="M PLUS 1p"/>
                <a:ea typeface="M PLUS 1p"/>
                <a:cs typeface="M PLUS 1p"/>
              </a:rPr>
              <a:t>ボスの動きが固定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715000" y="3063240"/>
            <a:ext cx="548640" cy="365760"/>
          </a:xfrm>
          <a:prstGeom prst="rightArrow">
            <a:avLst/>
          </a:prstGeom>
          <a:solidFill>
            <a:srgbClr val="F28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0" y="2743200"/>
            <a:ext cx="5120640" cy="1005840"/>
          </a:xfrm>
          <a:prstGeom prst="roundRect">
            <a:avLst>
              <a:gd name="adj" fmla="val 8000"/>
            </a:avLst>
          </a:prstGeom>
          <a:solidFill>
            <a:srgbClr val="F28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2743200"/>
            <a:ext cx="457200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lang="ja-JP" altLang="en-US">
                <a:solidFill>
                  <a:srgbClr val="FFFFFF"/>
                </a:solidFill>
                <a:latin typeface="M PLUS 1p"/>
                <a:ea typeface="M PLUS 1p"/>
                <a:cs typeface="M PLUS 1p"/>
              </a:rPr>
              <a:t>ステートパターンで切り替え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931920"/>
            <a:ext cx="4937760" cy="1005840"/>
          </a:xfrm>
          <a:prstGeom prst="roundRect">
            <a:avLst>
              <a:gd name="adj" fmla="val 8000"/>
            </a:avLst>
          </a:prstGeom>
          <a:solidFill>
            <a:srgbClr val="1F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931920"/>
            <a:ext cx="438912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lang="ja-JP" altLang="en-US">
                <a:solidFill>
                  <a:srgbClr val="FFFFFF"/>
                </a:solidFill>
                <a:latin typeface="M PLUS 1p"/>
                <a:ea typeface="M PLUS 1p"/>
                <a:cs typeface="M PLUS 1p"/>
              </a:rPr>
              <a:t>リボンがCPU描画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715000" y="4251959"/>
            <a:ext cx="548640" cy="365760"/>
          </a:xfrm>
          <a:prstGeom prst="rightArrow">
            <a:avLst/>
          </a:prstGeom>
          <a:solidFill>
            <a:srgbClr val="F28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0" y="3931920"/>
            <a:ext cx="5120640" cy="1005840"/>
          </a:xfrm>
          <a:prstGeom prst="roundRect">
            <a:avLst>
              <a:gd name="adj" fmla="val 8000"/>
            </a:avLst>
          </a:prstGeom>
          <a:solidFill>
            <a:srgbClr val="F28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3931920"/>
            <a:ext cx="457200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lang="ja-JP" altLang="en-US">
                <a:solidFill>
                  <a:srgbClr val="FFFFFF"/>
                </a:solidFill>
                <a:latin typeface="M PLUS 1p"/>
                <a:ea typeface="M PLUS 1p"/>
                <a:cs typeface="M PLUS 1p"/>
              </a:rPr>
              <a:t>GPUで描く方式へ移行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120640"/>
            <a:ext cx="4937760" cy="1005840"/>
          </a:xfrm>
          <a:prstGeom prst="roundRect">
            <a:avLst>
              <a:gd name="adj" fmla="val 8000"/>
            </a:avLst>
          </a:prstGeom>
          <a:solidFill>
            <a:srgbClr val="1F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120640"/>
            <a:ext cx="438912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lang="ja-JP" altLang="en-US">
                <a:solidFill>
                  <a:srgbClr val="FFFFFF"/>
                </a:solidFill>
                <a:latin typeface="M PLUS 1p"/>
                <a:ea typeface="M PLUS 1p"/>
                <a:cs typeface="M PLUS 1p"/>
              </a:rPr>
              <a:t>雲海が揺れる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5715000" y="5440680"/>
            <a:ext cx="548640" cy="365760"/>
          </a:xfrm>
          <a:prstGeom prst="rightArrow">
            <a:avLst/>
          </a:prstGeom>
          <a:solidFill>
            <a:srgbClr val="F28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00800" y="5120640"/>
            <a:ext cx="5120640" cy="1005840"/>
          </a:xfrm>
          <a:prstGeom prst="roundRect">
            <a:avLst>
              <a:gd name="adj" fmla="val 8000"/>
            </a:avLst>
          </a:prstGeom>
          <a:solidFill>
            <a:srgbClr val="F28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5120640"/>
            <a:ext cx="457200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lang="ja-JP" altLang="en-US">
                <a:solidFill>
                  <a:srgbClr val="FFFFFF"/>
                </a:solidFill>
                <a:latin typeface="M PLUS 1p"/>
                <a:ea typeface="M PLUS 1p"/>
                <a:cs typeface="M PLUS 1p"/>
              </a:rPr>
              <a:t>仮説を順に検証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